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3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4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5920"/>
            <a:ext cx="10566400" cy="407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5920"/>
            <a:ext cx="10566400" cy="407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5920"/>
            <a:ext cx="10566400" cy="407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5920"/>
            <a:ext cx="10566400" cy="407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5920"/>
            <a:ext cx="10566400" cy="407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65920"/>
            <a:ext cx="10566400" cy="407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image" Target="../media/image-46-10.png"/><Relationship Id="rId11" Type="http://schemas.openxmlformats.org/officeDocument/2006/relationships/image" Target="../media/image-4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image" Target="../media/image-53-7.png"/><Relationship Id="rId8" Type="http://schemas.openxmlformats.org/officeDocument/2006/relationships/image" Target="../media/image-53-8.png"/><Relationship Id="rId9" Type="http://schemas.openxmlformats.org/officeDocument/2006/relationships/image" Target="../media/image-53-9.png"/><Relationship Id="rId10" Type="http://schemas.openxmlformats.org/officeDocument/2006/relationships/image" Target="../media/image-5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image" Target="../media/image-5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linkedin.com/in/erturkerdagi" TargetMode="External"/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74000" y="1066800"/>
            <a:ext cx="3302000" cy="3302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45500" y="1638300"/>
            <a:ext cx="2159000" cy="2159000"/>
          </a:xfrm>
          <a:prstGeom prst="rect">
            <a:avLst/>
          </a:prstGeom>
        </p:spPr>
      </p:pic>
      <p:pic>
        <p:nvPicPr>
          <p:cNvPr id="4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17000" y="2209800"/>
            <a:ext cx="1016000" cy="1016000"/>
          </a:xfrm>
          <a:prstGeom prst="rect">
            <a:avLst/>
          </a:prstGeom>
        </p:spPr>
      </p:pic>
      <p:pic>
        <p:nvPicPr>
          <p:cNvPr id="5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06100" y="1562100"/>
            <a:ext cx="203200" cy="203200"/>
          </a:xfrm>
          <a:prstGeom prst="rect">
            <a:avLst/>
          </a:prstGeom>
        </p:spPr>
      </p:pic>
      <p:pic>
        <p:nvPicPr>
          <p:cNvPr id="6" name="Image 4" descr="ellip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55000" y="3835400"/>
            <a:ext cx="127000" cy="127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2800" y="2502595"/>
            <a:ext cx="1185763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SEVİYE 2</a:t>
            </a:r>
            <a:endParaRPr lang="en-US" sz="1200" dirty="0"/>
          </a:p>
        </p:txBody>
      </p:sp>
      <p:sp>
        <p:nvSpPr>
          <p:cNvPr id="8" name="Text 1"/>
          <p:cNvSpPr/>
          <p:nvPr/>
        </p:nvSpPr>
        <p:spPr>
          <a:xfrm>
            <a:off x="2106513" y="2508945"/>
            <a:ext cx="2547243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77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LEBİB YALKIN AKADEMİ</a:t>
            </a:r>
            <a:endParaRPr lang="en-US" sz="1200" dirty="0"/>
          </a:p>
        </p:txBody>
      </p:sp>
      <p:sp>
        <p:nvSpPr>
          <p:cNvPr id="9" name="Text 2"/>
          <p:cNvSpPr/>
          <p:nvPr>
            <p:ph type="title"/>
          </p:nvPr>
        </p:nvSpPr>
        <p:spPr>
          <a:xfrm>
            <a:off x="812800" y="3071515"/>
            <a:ext cx="7063740" cy="220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spc="-15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</a:t>
            </a:r>
            <a:r>
              <a:rPr lang="en-US" sz="5600" b="1" i="0" spc="-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Dönüştürülmesi</a:t>
            </a:r>
            <a:endParaRPr lang="en-US" sz="5600" dirty="0"/>
          </a:p>
        </p:txBody>
      </p:sp>
      <p:sp>
        <p:nvSpPr>
          <p:cNvPr id="10" name="Text 3"/>
          <p:cNvSpPr/>
          <p:nvPr/>
        </p:nvSpPr>
        <p:spPr>
          <a:xfrm>
            <a:off x="812800" y="5476280"/>
            <a:ext cx="62788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Sohbetten iş akışına: ChatGPT, Claude ve Gemini ile uygulamalı bir gün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906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FF6A3D"/>
          </a:solidFill>
          <a:ln/>
        </p:spPr>
      </p:sp>
      <p:pic>
        <p:nvPicPr>
          <p:cNvPr id="3" name="Image 0" descr="Dr. Ertürk Erdağı portresi">    </p:cNvPr>
          <p:cNvPicPr>
            <a:picLocks noChangeAspect="1"/>
          </p:cNvPicPr>
          <p:nvPr/>
        </p:nvPicPr>
        <p:blipFill>
          <a:blip r:embed="rId1"/>
          <a:srcRect l="6956" r="6956" t="0" b="0"/>
          <a:stretch/>
        </p:blipFill>
        <p:spPr>
          <a:xfrm>
            <a:off x="812800" y="812800"/>
            <a:ext cx="3302000" cy="3810000"/>
          </a:xfrm>
          <a:prstGeom prst="roundRect">
            <a:avLst>
              <a:gd name="adj" fmla="val 4615"/>
            </a:avLst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4775200"/>
            <a:ext cx="358419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Ertürk Erdağı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749800" y="812800"/>
            <a:ext cx="68282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EĞİTMEN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52975" y="1156295"/>
            <a:ext cx="6623050" cy="1801813"/>
          </a:xfrm>
          <a:prstGeom prst="roundRect">
            <a:avLst>
              <a:gd name="adj" fmla="val 8282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7" name="Image 1" descr="GraduationCa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4750" y="1337270"/>
            <a:ext cx="254000" cy="25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0350" y="1342330"/>
            <a:ext cx="115204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84750" y="1654770"/>
            <a:ext cx="634428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Doktora</a:t>
            </a:r>
            <a:r>
              <a:rPr lang="en-US" sz="14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Bilgisayar Mühendisliği, Maltepe Üniversitesi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84750" y="1967111"/>
            <a:ext cx="634428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Lisans</a:t>
            </a:r>
            <a:r>
              <a:rPr lang="en-US" sz="14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Bilgi Güvenliği Mühendisliği ve Kriptografi, İTÜ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84750" y="2279452"/>
            <a:ext cx="634428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Lisans</a:t>
            </a:r>
            <a:r>
              <a:rPr lang="en-US" sz="14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Bilgisayar ve Öğretim Teknolojileri Öğretmenliği, Marmara Üniversitesi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749800" y="3088283"/>
            <a:ext cx="6629400" cy="2044303"/>
          </a:xfrm>
          <a:prstGeom prst="roundRect">
            <a:avLst>
              <a:gd name="adj" fmla="val 7455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18000"/>
              </a:srgbClr>
            </a:outerShdw>
          </a:effectLst>
        </p:spPr>
      </p:sp>
      <p:pic>
        <p:nvPicPr>
          <p:cNvPr id="13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78400" y="3266083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34000" y="3271143"/>
            <a:ext cx="10164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Deneyim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978400" y="3583583"/>
            <a:ext cx="640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Sharpware</a:t>
            </a:r>
            <a:r>
              <a:rPr lang="en-US" sz="14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Kurumsal yapay zeka, veri analitiği ve dijital dönüşüm eğitimleri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978400" y="3895923"/>
            <a:ext cx="63573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Akademi</a:t>
            </a:r>
            <a:r>
              <a:rPr lang="en-US" sz="14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İstanbul Medeniyet, Gedik, Nişantaşı ve Topkapı üniversitelerinde öğretim üyeliği ve görevliliği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78400" y="4457105"/>
            <a:ext cx="63573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 ve kamu</a:t>
            </a:r>
            <a:r>
              <a:rPr lang="en-US" sz="14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Element, IT Products, BilgiKurdu, Arı Bilgi; MEB’de şube müdürlüğü ve Ar-Ge yöneticiliği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linkedin.com/in/erturkerdagi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2 / 62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· 9 MODÜL · 9 CANLI UYGULAMA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yol haritası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3414117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177951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31950" y="2099270"/>
            <a:ext cx="2463520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nesil çalışma yaklaşımı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8842" y="1918295"/>
            <a:ext cx="3414216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5217" y="2177951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04817" y="2236391"/>
            <a:ext cx="246362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ve veri analizi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61809" y="1918295"/>
            <a:ext cx="3414216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8184" y="2177951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77784" y="2099270"/>
            <a:ext cx="24636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Raporlama ve karar destek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5975" y="2987477"/>
            <a:ext cx="3414117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2350" y="3247132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31950" y="3305572"/>
            <a:ext cx="246352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Piyasa ve rakip analizi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8842" y="2987477"/>
            <a:ext cx="3414216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5217" y="3247132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04817" y="3168452"/>
            <a:ext cx="24636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ve iş süreci tasarımı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61809" y="2987477"/>
            <a:ext cx="3414216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8184" y="3247132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77784" y="3168452"/>
            <a:ext cx="24636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Tekrarlayan işler ve iş akışları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5975" y="4056658"/>
            <a:ext cx="3414117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2350" y="4316313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31950" y="4237633"/>
            <a:ext cx="2463520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çalışma ve ekip yönetimi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8842" y="4056658"/>
            <a:ext cx="3414216" cy="910431"/>
          </a:xfrm>
          <a:prstGeom prst="roundRect">
            <a:avLst>
              <a:gd name="adj" fmla="val 1360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5217" y="4316313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04817" y="4237633"/>
            <a:ext cx="24636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Zamanlanmış ve proaktif görevler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61809" y="4056658"/>
            <a:ext cx="3414216" cy="910431"/>
          </a:xfrm>
          <a:prstGeom prst="roundRect">
            <a:avLst>
              <a:gd name="adj" fmla="val 13601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8184" y="4316313"/>
            <a:ext cx="508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777784" y="4237633"/>
            <a:ext cx="24636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 ve Gemini senaryoları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 / 62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SEVİYE 1 → SEVİYE 2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Sormaktan devretmeye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4699000" cy="3926880"/>
          </a:xfrm>
          <a:prstGeom prst="roundRect">
            <a:avLst>
              <a:gd name="adj" fmla="val 3881"/>
            </a:avLst>
          </a:prstGeom>
          <a:solidFill>
            <a:srgbClr val="EFEAE0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169120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SEVİYE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2509441"/>
            <a:ext cx="431673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 soran kullanıcı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8108" y="2957711"/>
            <a:ext cx="42585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soru, tek cevap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yazdırma, özetleme, çeviri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Araçları tanıma ve ilk denemeler</a:t>
            </a:r>
            <a:endParaRPr lang="en-US" sz="16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3675360"/>
            <a:ext cx="762000" cy="406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80200" y="1915120"/>
            <a:ext cx="4699000" cy="3926880"/>
          </a:xfrm>
          <a:prstGeom prst="roundRect">
            <a:avLst>
              <a:gd name="adj" fmla="val 3881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34200" y="2169120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SEVİYE 2 · BUGÜN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34200" y="2509441"/>
            <a:ext cx="431673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devreden profesyonel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985508" y="2957711"/>
            <a:ext cx="42585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Dosya, veri ve çok adımlı görevler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Tekrarlayan işleri bir sisteme bağlama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yokken de çalışan görevler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4 / 62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391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01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05039"/>
            <a:ext cx="752157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Nesil Çalışma Yaklaşımı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1429246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prensipler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27771" y="5266134"/>
            <a:ext cx="221684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Etkili talimat ve görev tanımı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27166" y="5266134"/>
            <a:ext cx="2098576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süreçlerine entegrasyon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2072977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adımlı görev yönetimi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6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39200" y="3708400"/>
            <a:ext cx="2540000" cy="254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9110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ZİHNİYET DEĞİŞİMİ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358430"/>
            <a:ext cx="91567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zekayı yeni bir ekip arkadaşı gibi yönetin.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212630"/>
            <a:ext cx="7848600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Hızlı, bilgili ve yorulmayan; ama şirketinizi, müşterinizi ve beklentinizi siz anlatmadıkça bilmeyen bir ekip arkadaşı.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01 · TEMEL PRENSİPLER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temel prensip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2520950" cy="3920530"/>
          </a:xfrm>
          <a:prstGeom prst="roundRect">
            <a:avLst>
              <a:gd name="adj" fmla="val 591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31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2770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3150" y="2734270"/>
            <a:ext cx="206679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 verin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3150" y="3157141"/>
            <a:ext cx="2066798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için, hangi amaçla, hangi koşulda? Bağlam arttıkça isabet artar.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95675" y="1918295"/>
            <a:ext cx="2520950" cy="3920530"/>
          </a:xfrm>
          <a:prstGeom prst="roundRect">
            <a:avLst>
              <a:gd name="adj" fmla="val 591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528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54450" y="2277070"/>
            <a:ext cx="254000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2850" y="2734270"/>
            <a:ext cx="206679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Görevi netleştirin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752850" y="3478411"/>
            <a:ext cx="206679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“Bir şey yaz” yerine “üç paragraflık resmi bir e-posta yaz”.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75375" y="1918295"/>
            <a:ext cx="2520950" cy="3920530"/>
          </a:xfrm>
          <a:prstGeom prst="roundRect">
            <a:avLst>
              <a:gd name="adj" fmla="val 591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25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7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4150" y="2277070"/>
            <a:ext cx="254000" cy="254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2550" y="2734270"/>
            <a:ext cx="206679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Çıktıyı tarif edin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32550" y="3478411"/>
            <a:ext cx="206679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Tablo mu, madde mi, e-posta mı? Uzunluğu ve tonu siz belirleyin.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55075" y="1918295"/>
            <a:ext cx="2520950" cy="3920530"/>
          </a:xfrm>
          <a:prstGeom prst="roundRect">
            <a:avLst>
              <a:gd name="adj" fmla="val 5919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122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22" name="Image 3" descr="Verifie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13850" y="2277070"/>
            <a:ext cx="254000" cy="254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2250" y="2734270"/>
            <a:ext cx="206679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edin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112250" y="3157141"/>
            <a:ext cx="206679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çıktı bir taslaktır. Okuyun, düzeltin; son kararı siz verin.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7 / 62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01 · ETKİLİ TALİMAT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Etkili talimatın formülü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1991320" cy="3926880"/>
          </a:xfrm>
          <a:prstGeom prst="roundRect">
            <a:avLst>
              <a:gd name="adj" fmla="val 765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1915120"/>
            <a:ext cx="1991320" cy="3926880"/>
          </a:xfrm>
          <a:custGeom>
            <a:avLst/>
            <a:gdLst/>
            <a:ahLst/>
            <a:cxnLst/>
            <a:rect l="l" t="t" r="r" b="b"/>
            <a:pathLst>
              <a:path w="1991320" h="392688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38920" y="0"/>
                </a:lnTo>
                <a:arcTo hR="152400" wR="152400" stAng="16200000" swAng="5400000"/>
                <a:lnTo>
                  <a:pt x="199132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F6A3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69120"/>
            <a:ext cx="16357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16000" y="2854920"/>
            <a:ext cx="163572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3252391"/>
            <a:ext cx="1635720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“Deneyimli bir satın alma uzmanı gibi davran.”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56520" y="1915120"/>
            <a:ext cx="1991420" cy="3926880"/>
          </a:xfrm>
          <a:prstGeom prst="roundRect">
            <a:avLst>
              <a:gd name="adj" fmla="val 765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56520" y="1915120"/>
            <a:ext cx="1991420" cy="3926880"/>
          </a:xfrm>
          <a:custGeom>
            <a:avLst/>
            <a:gdLst/>
            <a:ahLst/>
            <a:cxnLst/>
            <a:rect l="l" t="t" r="r" b="b"/>
            <a:pathLst>
              <a:path w="1991420" h="392688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39020" y="0"/>
                </a:lnTo>
                <a:arcTo hR="152400" wR="152400" stAng="16200000" swAng="5400000"/>
                <a:lnTo>
                  <a:pt x="199142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F6A3D"/>
          </a:solidFill>
          <a:ln/>
        </p:spPr>
      </p:sp>
      <p:sp>
        <p:nvSpPr>
          <p:cNvPr id="12" name="Text 10"/>
          <p:cNvSpPr/>
          <p:nvPr/>
        </p:nvSpPr>
        <p:spPr>
          <a:xfrm>
            <a:off x="3159720" y="2169120"/>
            <a:ext cx="16358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159720" y="2854920"/>
            <a:ext cx="163582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59720" y="3252391"/>
            <a:ext cx="163582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“Tedarikçiye bir e-posta yaz.”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00340" y="1915120"/>
            <a:ext cx="1991320" cy="3926880"/>
          </a:xfrm>
          <a:prstGeom prst="roundRect">
            <a:avLst>
              <a:gd name="adj" fmla="val 765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00340" y="1915120"/>
            <a:ext cx="1991320" cy="3926880"/>
          </a:xfrm>
          <a:custGeom>
            <a:avLst/>
            <a:gdLst/>
            <a:ahLst/>
            <a:cxnLst/>
            <a:rect l="l" t="t" r="r" b="b"/>
            <a:pathLst>
              <a:path w="1991320" h="392688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38920" y="0"/>
                </a:lnTo>
                <a:arcTo hR="152400" wR="152400" stAng="16200000" swAng="5400000"/>
                <a:lnTo>
                  <a:pt x="199132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F6A3D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40" y="2169120"/>
            <a:ext cx="16357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303540" y="2854920"/>
            <a:ext cx="163572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40" y="3252391"/>
            <a:ext cx="1635720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“Teslimat iki haftadır gecikiyor, iş ilişkimiz uzun süreli.”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44060" y="1915120"/>
            <a:ext cx="1991420" cy="3926880"/>
          </a:xfrm>
          <a:prstGeom prst="roundRect">
            <a:avLst>
              <a:gd name="adj" fmla="val 7653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44060" y="1915120"/>
            <a:ext cx="1991420" cy="3926880"/>
          </a:xfrm>
          <a:custGeom>
            <a:avLst/>
            <a:gdLst/>
            <a:ahLst/>
            <a:cxnLst/>
            <a:rect l="l" t="t" r="r" b="b"/>
            <a:pathLst>
              <a:path w="1991420" h="392688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39020" y="0"/>
                </a:lnTo>
                <a:arcTo hR="152400" wR="152400" stAng="16200000" swAng="5400000"/>
                <a:lnTo>
                  <a:pt x="199142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F6A3D"/>
          </a:solidFill>
          <a:ln/>
        </p:spPr>
      </p:sp>
      <p:sp>
        <p:nvSpPr>
          <p:cNvPr id="22" name="Text 20"/>
          <p:cNvSpPr/>
          <p:nvPr/>
        </p:nvSpPr>
        <p:spPr>
          <a:xfrm>
            <a:off x="7447260" y="2169120"/>
            <a:ext cx="16358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7447260" y="2854920"/>
            <a:ext cx="163582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47260" y="3252391"/>
            <a:ext cx="163582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 fazla 150 kelime, konu satırıyla.”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87880" y="1915120"/>
            <a:ext cx="1991320" cy="3926880"/>
          </a:xfrm>
          <a:prstGeom prst="roundRect">
            <a:avLst>
              <a:gd name="adj" fmla="val 7653"/>
            </a:avLst>
          </a:prstGeom>
          <a:solidFill>
            <a:srgbClr val="10162A"/>
          </a:solidFill>
          <a:ln/>
        </p:spPr>
      </p:sp>
      <p:sp>
        <p:nvSpPr>
          <p:cNvPr id="26" name="Shape 24"/>
          <p:cNvSpPr/>
          <p:nvPr/>
        </p:nvSpPr>
        <p:spPr>
          <a:xfrm>
            <a:off x="9387880" y="1915120"/>
            <a:ext cx="1991320" cy="3926880"/>
          </a:xfrm>
          <a:custGeom>
            <a:avLst/>
            <a:gdLst/>
            <a:ahLst/>
            <a:cxnLst/>
            <a:rect l="l" t="t" r="r" b="b"/>
            <a:pathLst>
              <a:path w="1991320" h="392688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38920" y="0"/>
                </a:lnTo>
                <a:arcTo hR="152400" wR="152400" stAng="16200000" swAng="5400000"/>
                <a:lnTo>
                  <a:pt x="1991320" y="152400"/>
                </a:lnTo>
                <a:arcTo hR="101600" wR="152400" stAng="0" swAng="-5400000"/>
                <a:lnTo>
                  <a:pt x="152400" y="50800"/>
                </a:lnTo>
                <a:arcTo hR="101600" wR="152400" stAng="16200000" swAng="-5400000"/>
                <a:close/>
              </a:path>
            </a:pathLst>
          </a:custGeom>
          <a:solidFill>
            <a:srgbClr val="FF6A3D"/>
          </a:solidFill>
          <a:ln/>
        </p:spPr>
      </p:sp>
      <p:sp>
        <p:nvSpPr>
          <p:cNvPr id="27" name="Text 25"/>
          <p:cNvSpPr/>
          <p:nvPr/>
        </p:nvSpPr>
        <p:spPr>
          <a:xfrm>
            <a:off x="9591080" y="2169120"/>
            <a:ext cx="16357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9591080" y="2854920"/>
            <a:ext cx="163572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Kısıt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91080" y="3252391"/>
            <a:ext cx="163572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“Suçlayıcı olma, net bir tarih iste.”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8 / 62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01 · ETKİLİ TALİMAT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istek, iki farklı sonuç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3810000" cy="3926880"/>
          </a:xfrm>
          <a:prstGeom prst="roundRect">
            <a:avLst>
              <a:gd name="adj" fmla="val 4000"/>
            </a:avLst>
          </a:prstGeom>
          <a:solidFill>
            <a:srgbClr val="EFEAE0"/>
          </a:solidFill>
          <a:ln/>
        </p:spPr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169120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2400" y="2189460"/>
            <a:ext cx="16348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ZAYIF TALİMAT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6800" y="2550120"/>
            <a:ext cx="34010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“Tedarikçiye gecikme için bir mail yaz.”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66800" y="4734620"/>
            <a:ext cx="340106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Sonuç:</a:t>
            </a: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Genel, kişiliksiz ve büyük ölçüde yeniden yazılması gereken bir metin.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26000" y="1915120"/>
            <a:ext cx="6553200" cy="3926880"/>
          </a:xfrm>
          <a:prstGeom prst="roundRect">
            <a:avLst>
              <a:gd name="adj" fmla="val 3881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pic>
        <p:nvPicPr>
          <p:cNvPr id="11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0" y="2169120"/>
            <a:ext cx="254000" cy="25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5600" y="2189460"/>
            <a:ext cx="17734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GÜÇLÜ TALİMAT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80000" y="2550120"/>
            <a:ext cx="6226556" cy="149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satın alma uzmanı olarak</a:t>
            </a: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üç yıldır çalıştığımız ambalaj tedarikçimize bir e-posta yaz. </a:t>
            </a: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Siparişimiz iki haftadır gecikiyor</a:t>
            </a: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üretim planımızı etkiliyor. </a:t>
            </a: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Nazik ama net ol</a:t>
            </a: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 geç cuma günü için kesin bir teslim tarihi iste. </a:t>
            </a: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kelimeyi geçmesin</a:t>
            </a: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bir konu satırı da öner.”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80000" y="5019080"/>
            <a:ext cx="622655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Sonuç:</a:t>
            </a: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Küçük düzeltmelerle gönderilebilecek, amaca uygun bir taslak.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9 / 62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01 · İŞ SÜREÇLERİNE ENTEGRASYON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İşinizin neresinde devreye girer?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2216150" cy="2955330"/>
          </a:xfrm>
          <a:prstGeom prst="roundRect">
            <a:avLst>
              <a:gd name="adj" fmla="val 67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31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2770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3150" y="2734270"/>
            <a:ext cx="175285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Hazırlık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3150" y="3157141"/>
            <a:ext cx="175285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Araştırma, bilgi toplama, plan çıkarma</a:t>
            </a:r>
            <a:endParaRPr lang="en-US" sz="16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36900" y="3307060"/>
            <a:ext cx="355600" cy="177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97275" y="1918295"/>
            <a:ext cx="2216150" cy="2955330"/>
          </a:xfrm>
          <a:prstGeom prst="roundRect">
            <a:avLst>
              <a:gd name="adj" fmla="val 67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8544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3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56050" y="2277070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54450" y="2734270"/>
            <a:ext cx="175285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854450" y="3157141"/>
            <a:ext cx="175285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Taslak metin, tablo, sunum ve rapor</a:t>
            </a:r>
            <a:endParaRPr lang="en-US" sz="1600" dirty="0"/>
          </a:p>
        </p:txBody>
      </p:sp>
      <p:pic>
        <p:nvPicPr>
          <p:cNvPr id="16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3307060"/>
            <a:ext cx="355600" cy="1778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78575" y="1918295"/>
            <a:ext cx="2216150" cy="2955330"/>
          </a:xfrm>
          <a:prstGeom prst="roundRect">
            <a:avLst>
              <a:gd name="adj" fmla="val 67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357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9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37350" y="2277070"/>
            <a:ext cx="254000" cy="254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35750" y="2734270"/>
            <a:ext cx="175285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6635750" y="3157141"/>
            <a:ext cx="175285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Hata, eksik ve tutarsızlık taraması</a:t>
            </a:r>
            <a:endParaRPr lang="en-US" sz="1600" dirty="0"/>
          </a:p>
        </p:txBody>
      </p:sp>
      <p:pic>
        <p:nvPicPr>
          <p:cNvPr id="22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99500" y="3307060"/>
            <a:ext cx="355600" cy="1778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59875" y="1918295"/>
            <a:ext cx="2216150" cy="2955330"/>
          </a:xfrm>
          <a:prstGeom prst="roundRect">
            <a:avLst>
              <a:gd name="adj" fmla="val 67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4170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5" name="Image 6" descr="PaperPlan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518650" y="2277070"/>
            <a:ext cx="254000" cy="2540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417050" y="2734270"/>
            <a:ext cx="175285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Paylaşım</a:t>
            </a:r>
            <a:endParaRPr lang="en-US" sz="2200" dirty="0"/>
          </a:p>
        </p:txBody>
      </p:sp>
      <p:sp>
        <p:nvSpPr>
          <p:cNvPr id="27" name="Text 18"/>
          <p:cNvSpPr/>
          <p:nvPr/>
        </p:nvSpPr>
        <p:spPr>
          <a:xfrm>
            <a:off x="9417050" y="3157141"/>
            <a:ext cx="175285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Özet, e-posta, farklı kitlelere uyarlama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812800" y="5130800"/>
            <a:ext cx="10566400" cy="711200"/>
          </a:xfrm>
          <a:prstGeom prst="roundRect">
            <a:avLst>
              <a:gd name="adj" fmla="val 21429"/>
            </a:avLst>
          </a:prstGeom>
          <a:solidFill>
            <a:srgbClr val="10162A"/>
          </a:solidFill>
          <a:ln/>
        </p:spPr>
      </p:sp>
      <p:pic>
        <p:nvPicPr>
          <p:cNvPr id="29" name="Image 7" descr="Lightbulb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6800" y="5334000"/>
            <a:ext cx="304800" cy="3048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24000" y="5344120"/>
            <a:ext cx="98892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İpucu:</a:t>
            </a: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Tüm süreci bir anda değiştirmeye çalışmayın. En çok zaman alan tek adımla başlayın.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10 / 62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01 · ÇOK ADIMLI GÖREVLER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işi adımlara bölün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238512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385120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plan isteyin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94980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işi hangi adımlarla yaparsın? Önce planı göster.”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182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182640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adım ilerleyin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492500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“Şimdi yalnızca 1. adımı yap.”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98016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980160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 kontrol yapın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290020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adımın çıktısını onaylayın ya da düzeltin.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77768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777680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Birleştirin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5087541"/>
            <a:ext cx="54155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“Tüm adımları tek bir sonuçta topla.”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34200" y="1915120"/>
            <a:ext cx="4445000" cy="3926880"/>
          </a:xfrm>
          <a:prstGeom prst="roundRect">
            <a:avLst>
              <a:gd name="adj" fmla="val 3881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pic>
        <p:nvPicPr>
          <p:cNvPr id="18" name="Image 0" descr="St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39000" y="2823170"/>
            <a:ext cx="254000" cy="254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94600" y="2843510"/>
            <a:ext cx="16484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SİHİRLİ CÜMLE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239000" y="3229570"/>
            <a:ext cx="395046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“Başlamadan önce bana ihtiyacın olan soruları sor.”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239000" y="4080470"/>
            <a:ext cx="395046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eksik bilgiyi tahmin etmek yerine size sorar; sonuç ilk seferde isabetli olur.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11 / 62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01 · GÜVENLİ KULLANIM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 kullanımın dört kuralı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5200650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150" y="21500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2516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750" y="2150070"/>
            <a:ext cx="419900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 veri paylaşmayın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82750" y="2454870"/>
            <a:ext cx="419900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Kimlik no, telefon, adres, sağlık bilgisi yazmayın; gerekirse “Müşteri A” deyin.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5375" y="1918295"/>
            <a:ext cx="5200650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32550" y="21500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2" name="Image 1" descr="Ke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4150" y="2251670"/>
            <a:ext cx="254000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2150" y="2150070"/>
            <a:ext cx="419900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Şirket bilgisini gizleyin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42150" y="2454870"/>
            <a:ext cx="419900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adı, fiyat ve sözleşme detayı yerine temsili ifadeler kullanın.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5975" y="3957935"/>
            <a:ext cx="5200650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73150" y="418971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7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74750" y="4291310"/>
            <a:ext cx="254000" cy="254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82750" y="4189710"/>
            <a:ext cx="419900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Ayarları kontrol edin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82750" y="4494510"/>
            <a:ext cx="419900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Verilerinizin model eğitiminde kullanılmasını ayarlardan kapatın.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175375" y="3957935"/>
            <a:ext cx="5200650" cy="1880890"/>
          </a:xfrm>
          <a:prstGeom prst="roundRect">
            <a:avLst>
              <a:gd name="adj" fmla="val 7934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32550" y="418971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22" name="Image 3" descr="Verifie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34150" y="4291310"/>
            <a:ext cx="254000" cy="254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2150" y="4189710"/>
            <a:ext cx="419900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karar sizde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042150" y="4494510"/>
            <a:ext cx="419900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emin bir dille yanılabilir. Rakam, tarih ve kaynağı doğrulayın.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12 / 62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1020266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iş, iki talimat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647009"/>
            <a:ext cx="295191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Siparişimiz iki haftadır gecikiyor. Tedarikçiye resmi ama nazik bir e-posta yazılacak.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074914"/>
            <a:ext cx="3380383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33208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647009"/>
            <a:ext cx="295201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tek cümlelik bir talimat, ardından RGBFK formülüyle hazırlanmış bir talimat vereceğiz.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647009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çıktı arasındaki farkı ve “önce bana soru sor” tekniğinin etkisini.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62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405397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02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445099"/>
            <a:ext cx="752157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ve Veri Analizi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2217440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Birden fazla tablonun analizi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15965" y="5266134"/>
            <a:ext cx="215731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Karşılaştırma ve birleştirme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55828" y="5266134"/>
            <a:ext cx="2708176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Temizleme, sınıflandırma, özetleme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1861344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İçgörü ve yönetici özeti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62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02 · EXCEL VE VERİ ANALİZİ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Excel’e Türkçe soru sorun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3183434" cy="50800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167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7000" y="2026841"/>
            <a:ext cx="19788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Dosyayı yükleyin</a:t>
            </a:r>
            <a:endParaRPr lang="en-US" sz="16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97834" y="2092920"/>
            <a:ext cx="3048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04234" y="1915120"/>
            <a:ext cx="3183533" cy="50800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</p:spPr>
      </p:sp>
      <p:sp>
        <p:nvSpPr>
          <p:cNvPr id="10" name="Text 7"/>
          <p:cNvSpPr/>
          <p:nvPr/>
        </p:nvSpPr>
        <p:spPr>
          <a:xfrm>
            <a:off x="4682034" y="20167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88434" y="2026841"/>
            <a:ext cx="154471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sorun</a:t>
            </a:r>
            <a:endParaRPr lang="en-US" sz="16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89366" y="2092920"/>
            <a:ext cx="3048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95766" y="1915120"/>
            <a:ext cx="3183434" cy="50800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</p:spPr>
      </p:sp>
      <p:sp>
        <p:nvSpPr>
          <p:cNvPr id="14" name="Text 10"/>
          <p:cNvSpPr/>
          <p:nvPr/>
        </p:nvSpPr>
        <p:spPr>
          <a:xfrm>
            <a:off x="8373566" y="20167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779966" y="2026841"/>
            <a:ext cx="138183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Sonucu alın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5975" y="2680295"/>
            <a:ext cx="2520950" cy="3158530"/>
          </a:xfrm>
          <a:prstGeom prst="roundRect">
            <a:avLst>
              <a:gd name="adj" fmla="val 591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73150" y="2937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8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74750" y="3039070"/>
            <a:ext cx="254000" cy="254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3150" y="3496270"/>
            <a:ext cx="206679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et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73150" y="3919141"/>
            <a:ext cx="20667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Toplam, ortalama, dağılım ve sıralamalar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3495675" y="2680295"/>
            <a:ext cx="2520950" cy="3158530"/>
          </a:xfrm>
          <a:prstGeom prst="roundRect">
            <a:avLst>
              <a:gd name="adj" fmla="val 591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752850" y="2937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3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54450" y="3039070"/>
            <a:ext cx="254000" cy="254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52850" y="3496270"/>
            <a:ext cx="206679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Karşılaştır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3752850" y="3919141"/>
            <a:ext cx="20667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listede eşleşen ve eşleşmeyen kayıtlar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175375" y="2680295"/>
            <a:ext cx="2520950" cy="3158530"/>
          </a:xfrm>
          <a:prstGeom prst="roundRect">
            <a:avLst>
              <a:gd name="adj" fmla="val 591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32550" y="2937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8" name="Image 4" descr="Wren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34150" y="3039070"/>
            <a:ext cx="254000" cy="2540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32550" y="3496270"/>
            <a:ext cx="206679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Temizle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6432550" y="3919141"/>
            <a:ext cx="206679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Yazım farkları, mükerrer kayıtlar, boş hücreler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8855075" y="2680295"/>
            <a:ext cx="2520950" cy="3158530"/>
          </a:xfrm>
          <a:prstGeom prst="roundRect">
            <a:avLst>
              <a:gd name="adj" fmla="val 5919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112250" y="2937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33" name="Image 5" descr="Lightbulb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13850" y="3039070"/>
            <a:ext cx="254000" cy="2540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12250" y="3496270"/>
            <a:ext cx="206679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Özetle</a:t>
            </a:r>
            <a:endParaRPr lang="en-US" sz="2200" dirty="0"/>
          </a:p>
        </p:txBody>
      </p:sp>
      <p:sp>
        <p:nvSpPr>
          <p:cNvPr id="35" name="Text 27"/>
          <p:cNvSpPr/>
          <p:nvPr/>
        </p:nvSpPr>
        <p:spPr>
          <a:xfrm>
            <a:off x="9112250" y="3919141"/>
            <a:ext cx="20667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Bulgular, eğilimler ve yönetici özeti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15 / 62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02 · VERİ TEMİZLEME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temizliği: önce ve sonra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1915120"/>
            <a:ext cx="1790700" cy="314920"/>
          </a:xfrm>
          <a:prstGeom prst="roundRect">
            <a:avLst>
              <a:gd name="adj" fmla="val 50000"/>
            </a:avLst>
          </a:prstGeom>
          <a:solidFill>
            <a:srgbClr val="FF8A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· DAĞINIK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" y="2331641"/>
            <a:ext cx="4775200" cy="2208907"/>
          </a:xfrm>
          <a:prstGeom prst="roundRect">
            <a:avLst>
              <a:gd name="adj" fmla="val 4600"/>
            </a:avLst>
          </a:prstGeom>
          <a:solidFill>
            <a:srgbClr val="FFFDF8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2331641"/>
            <a:ext cx="4775200" cy="2208907"/>
          </a:xfrm>
          <a:custGeom>
            <a:avLst/>
            <a:gdLst/>
            <a:ahLst/>
            <a:cxnLst/>
            <a:rect l="l" t="t" r="r" b="b"/>
            <a:pathLst>
              <a:path w="4775200" h="2208907">
                <a:moveTo>
                  <a:pt x="101600" y="2208907"/>
                </a:moveTo>
                <a:lnTo>
                  <a:pt x="101600" y="2208907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4673600" y="0"/>
                </a:lnTo>
                <a:arcTo hR="101600" wR="101600" stAng="16200000" swAng="5400000"/>
                <a:lnTo>
                  <a:pt x="47752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107307"/>
                </a:lnTo>
                <a:arcTo hR="101600" w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44341"/>
          <a:ext cx="4762500" cy="2196207"/>
        </p:xfrm>
        <a:graphic>
          <a:graphicData uri="http://schemas.openxmlformats.org/drawingml/2006/table">
            <a:tbl>
              <a:tblPr/>
              <a:tblGrid>
                <a:gridCol w="1619250"/>
                <a:gridCol w="1714500"/>
                <a:gridCol w="1428750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Şehir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Tarih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Tutar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6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istanbul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03.10.2026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İST.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1250 TL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Istanbul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Ekim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1.250,00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ANKARA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07/10/26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(boş)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91200" y="3075384"/>
            <a:ext cx="6096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04000" y="1915120"/>
            <a:ext cx="2116634" cy="314920"/>
          </a:xfrm>
          <a:prstGeom prst="roundRect">
            <a:avLst>
              <a:gd name="adj" fmla="val 50000"/>
            </a:avLst>
          </a:prstGeom>
          <a:solidFill>
            <a:srgbClr val="2457C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 · STANDART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604000" y="2331641"/>
            <a:ext cx="4775200" cy="2208907"/>
          </a:xfrm>
          <a:prstGeom prst="roundRect">
            <a:avLst>
              <a:gd name="adj" fmla="val 4600"/>
            </a:avLst>
          </a:prstGeom>
          <a:solidFill>
            <a:srgbClr val="FFFDF8"/>
          </a:solidFill>
          <a:ln/>
        </p:spPr>
      </p:sp>
      <p:sp>
        <p:nvSpPr>
          <p:cNvPr id="12" name="Shape 8"/>
          <p:cNvSpPr/>
          <p:nvPr/>
        </p:nvSpPr>
        <p:spPr>
          <a:xfrm>
            <a:off x="6604000" y="2331641"/>
            <a:ext cx="4775200" cy="2208907"/>
          </a:xfrm>
          <a:custGeom>
            <a:avLst/>
            <a:gdLst/>
            <a:ahLst/>
            <a:cxnLst/>
            <a:rect l="l" t="t" r="r" b="b"/>
            <a:pathLst>
              <a:path w="4775200" h="2208907">
                <a:moveTo>
                  <a:pt x="101600" y="2208907"/>
                </a:moveTo>
                <a:lnTo>
                  <a:pt x="101600" y="2208907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4673600" y="0"/>
                </a:lnTo>
                <a:arcTo hR="101600" wR="101600" stAng="16200000" swAng="5400000"/>
                <a:lnTo>
                  <a:pt x="47752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107307"/>
                </a:lnTo>
                <a:arcTo hR="101600" w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6700" y="2344341"/>
          <a:ext cx="4762500" cy="2196207"/>
        </p:xfrm>
        <a:graphic>
          <a:graphicData uri="http://schemas.openxmlformats.org/drawingml/2006/table">
            <a:tbl>
              <a:tblPr/>
              <a:tblGrid>
                <a:gridCol w="1619250"/>
                <a:gridCol w="1714500"/>
                <a:gridCol w="1428750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Şehir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Tarih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Tutar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F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İstanbul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03.10.2026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1.250,00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İstanbul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05.10.2026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1.250,00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İstanbul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05.10.2026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1.250,00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Ankara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07.10.2026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Eksik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812800" y="4794548"/>
            <a:ext cx="10566400" cy="975320"/>
          </a:xfrm>
          <a:prstGeom prst="roundRect">
            <a:avLst>
              <a:gd name="adj" fmla="val 15626"/>
            </a:avLst>
          </a:prstGeom>
          <a:solidFill>
            <a:srgbClr val="10162A"/>
          </a:solidFill>
          <a:ln/>
        </p:spPr>
      </p:sp>
      <p:pic>
        <p:nvPicPr>
          <p:cNvPr id="15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6800" y="5129808"/>
            <a:ext cx="304800" cy="304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24000" y="4997748"/>
            <a:ext cx="98892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“Şehir adlarını standartlaştır, tarihleri GG.AA.YYYY yap, mükerrer ve eksik kayıtları işaretle, yaptığın değişiklikleri listele.”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16 / 62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95500"/>
            <a:ext cx="3429000" cy="3429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44800" y="2095500"/>
            <a:ext cx="3429000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04900" y="2730500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SİPARİŞLER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4279900" y="2730500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45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TESLİMATLAR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76630" y="3556000"/>
            <a:ext cx="18313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Teslim edilmemiş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946400" y="3670300"/>
            <a:ext cx="119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Eşleşen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343400" y="35560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Kaydı eksik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10" name="Text 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02 · KARŞILAŞTIRMA VE BİRLEŞTİRME</a:t>
            </a:r>
            <a:endParaRPr lang="en-US" sz="1200" dirty="0"/>
          </a:p>
        </p:txBody>
      </p:sp>
      <p:sp>
        <p:nvSpPr>
          <p:cNvPr id="11" name="Text 7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listeyi karşılaştırmak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6705600" y="2054920"/>
            <a:ext cx="2422029" cy="34032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</p:spPr>
      </p:sp>
      <p:pic>
        <p:nvPicPr>
          <p:cNvPr id="13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0" y="2123480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7400" y="2118420"/>
            <a:ext cx="19902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anahtar: Sipariş No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705600" y="2522240"/>
            <a:ext cx="4673600" cy="975320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/>
        </p:spPr>
      </p:sp>
      <p:sp>
        <p:nvSpPr>
          <p:cNvPr id="16" name="Shape 11"/>
          <p:cNvSpPr/>
          <p:nvPr/>
        </p:nvSpPr>
        <p:spPr>
          <a:xfrm>
            <a:off x="6705600" y="2522240"/>
            <a:ext cx="4673600" cy="975320"/>
          </a:xfrm>
          <a:custGeom>
            <a:avLst/>
            <a:gdLst/>
            <a:ahLst/>
            <a:cxnLst/>
            <a:rect l="l" t="t" r="r" b="b"/>
            <a:pathLst>
              <a:path w="4673600" h="975320">
                <a:moveTo>
                  <a:pt x="101600" y="975320"/>
                </a:moveTo>
                <a:lnTo>
                  <a:pt x="101600" y="975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873720"/>
                </a:lnTo>
                <a:arcTo hR="101600" wR="50800" stAng="10800000" swAng="-5400000"/>
                <a:close/>
              </a:path>
            </a:pathLst>
          </a:custGeom>
          <a:solidFill>
            <a:srgbClr val="FF6A3D"/>
          </a:solidFill>
          <a:ln/>
        </p:spPr>
      </p:sp>
      <p:sp>
        <p:nvSpPr>
          <p:cNvPr id="17" name="Text 12"/>
          <p:cNvSpPr/>
          <p:nvPr/>
        </p:nvSpPr>
        <p:spPr>
          <a:xfrm>
            <a:off x="6959600" y="2700040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siparişte var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959600" y="3035300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Teslim edilmemiş ya da gecikmiş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705600" y="3624560"/>
            <a:ext cx="4673600" cy="975320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705600" y="3624560"/>
            <a:ext cx="4673600" cy="975320"/>
          </a:xfrm>
          <a:custGeom>
            <a:avLst/>
            <a:gdLst/>
            <a:ahLst/>
            <a:cxnLst/>
            <a:rect l="l" t="t" r="r" b="b"/>
            <a:pathLst>
              <a:path w="4673600" h="975320">
                <a:moveTo>
                  <a:pt x="101600" y="975320"/>
                </a:moveTo>
                <a:lnTo>
                  <a:pt x="101600" y="975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873720"/>
                </a:lnTo>
                <a:arcTo hR="101600" wR="50800" stAng="10800000" swAng="-5400000"/>
                <a:close/>
              </a:path>
            </a:pathLst>
          </a:custGeom>
          <a:solidFill>
            <a:srgbClr val="5F6677"/>
          </a:solidFill>
          <a:ln/>
        </p:spPr>
      </p:sp>
      <p:sp>
        <p:nvSpPr>
          <p:cNvPr id="21" name="Text 16"/>
          <p:cNvSpPr/>
          <p:nvPr/>
        </p:nvSpPr>
        <p:spPr>
          <a:xfrm>
            <a:off x="6959600" y="3802360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listede de var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959600" y="4137620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Teslimat tamam, süre ölçülebilir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705600" y="4726880"/>
            <a:ext cx="4673600" cy="975320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/>
        </p:spPr>
      </p:sp>
      <p:sp>
        <p:nvSpPr>
          <p:cNvPr id="24" name="Shape 19"/>
          <p:cNvSpPr/>
          <p:nvPr/>
        </p:nvSpPr>
        <p:spPr>
          <a:xfrm>
            <a:off x="6705600" y="4726880"/>
            <a:ext cx="4673600" cy="975320"/>
          </a:xfrm>
          <a:custGeom>
            <a:avLst/>
            <a:gdLst/>
            <a:ahLst/>
            <a:cxnLst/>
            <a:rect l="l" t="t" r="r" b="b"/>
            <a:pathLst>
              <a:path w="4673600" h="975320">
                <a:moveTo>
                  <a:pt x="101600" y="975320"/>
                </a:moveTo>
                <a:lnTo>
                  <a:pt x="101600" y="975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873720"/>
                </a:lnTo>
                <a:arcTo hR="101600" wR="50800" stAng="10800000" swAng="-5400000"/>
                <a:close/>
              </a:path>
            </a:pathLst>
          </a:custGeom>
          <a:solidFill>
            <a:srgbClr val="4C8DFF"/>
          </a:solidFill>
          <a:ln/>
        </p:spPr>
      </p:sp>
      <p:sp>
        <p:nvSpPr>
          <p:cNvPr id="25" name="Text 20"/>
          <p:cNvSpPr/>
          <p:nvPr/>
        </p:nvSpPr>
        <p:spPr>
          <a:xfrm>
            <a:off x="6959600" y="4904680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teslimatta var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959600" y="5239941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Sipariş kaydı eksik olabilir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17 / 62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02 · İÇGÖRÜ ELDE ETME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Veriye sorulacak doğru sorular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3414117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6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2124670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2350" y="2531070"/>
            <a:ext cx="3091408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“Gecikme en çok hangi bölgede?”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88842" y="191829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5217" y="212467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5217" y="2531070"/>
            <a:ext cx="309151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 çok sipariş veren 5 müşteri?”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961809" y="191829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2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8184" y="2124670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68184" y="2531070"/>
            <a:ext cx="309151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“Geçen aya göre ne değişti?”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815975" y="3957935"/>
            <a:ext cx="3414117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5" name="Image 3" descr="Cha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2350" y="4164310"/>
            <a:ext cx="304800" cy="304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22350" y="4570710"/>
            <a:ext cx="3091408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“Hangi kayıtlarda bilgi eksik?”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4388842" y="395793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8" name="Image 4" descr="Cha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5217" y="4164310"/>
            <a:ext cx="304800" cy="304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5217" y="4570710"/>
            <a:ext cx="309151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tablodaki 3 önemli bulgu ne?”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7961809" y="395793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</p:spPr>
      </p:sp>
      <p:pic>
        <p:nvPicPr>
          <p:cNvPr id="21" name="Image 5" descr="Cha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68184" y="4164310"/>
            <a:ext cx="304800" cy="304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68184" y="4570710"/>
            <a:ext cx="309151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“Bunu yöneticime nasıl anlatırım?”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18 / 62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02 · SONUCU DOĞRULAMA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Güvenmeden önce dört kontrol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325" y="1915120"/>
            <a:ext cx="0" cy="2926159"/>
          </a:xfrm>
          <a:prstGeom prst="line">
            <a:avLst/>
          </a:prstGeom>
          <a:noFill/>
          <a:ln w="19050">
            <a:solidFill>
              <a:srgbClr val="E4DE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5050" y="1915120"/>
            <a:ext cx="22957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35050" y="2778720"/>
            <a:ext cx="22957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Satırları sayın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5050" y="3201591"/>
            <a:ext cx="229571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“Kaç satır okudun?” Dosyadaki sayıyla karşılaştırın.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7425" y="1915120"/>
            <a:ext cx="0" cy="2926159"/>
          </a:xfrm>
          <a:prstGeom prst="line">
            <a:avLst/>
          </a:prstGeom>
          <a:noFill/>
          <a:ln w="19050">
            <a:solidFill>
              <a:srgbClr val="E4DE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0150" y="1915120"/>
            <a:ext cx="22957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740150" y="2778720"/>
            <a:ext cx="22957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seçin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0150" y="3201591"/>
            <a:ext cx="229571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Rastgele iki üç kaydı kendiniz kontrol edin.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2525" y="1915120"/>
            <a:ext cx="0" cy="2926159"/>
          </a:xfrm>
          <a:prstGeom prst="line">
            <a:avLst/>
          </a:prstGeom>
          <a:noFill/>
          <a:ln w="19050">
            <a:solidFill>
              <a:srgbClr val="E4DE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250" y="1915120"/>
            <a:ext cx="22957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45250" y="2778720"/>
            <a:ext cx="22957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Toplamı tutturun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5250" y="3201591"/>
            <a:ext cx="229571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toplam, bildiğiniz rakamla aynı mı?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37625" y="1915120"/>
            <a:ext cx="0" cy="2926159"/>
          </a:xfrm>
          <a:prstGeom prst="line">
            <a:avLst/>
          </a:prstGeom>
          <a:noFill/>
          <a:ln w="1905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0350" y="1915120"/>
            <a:ext cx="22957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150350" y="2778720"/>
            <a:ext cx="22957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Yöntemi isteyin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50350" y="3201591"/>
            <a:ext cx="229571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“Hangi adımları izledin, hangi varsayımları yaptın?”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5095280"/>
            <a:ext cx="10566400" cy="746720"/>
          </a:xfrm>
          <a:prstGeom prst="roundRect">
            <a:avLst>
              <a:gd name="adj" fmla="val 20409"/>
            </a:avLst>
          </a:prstGeom>
          <a:solidFill>
            <a:srgbClr val="10162A"/>
          </a:solidFill>
          <a:ln/>
        </p:spPr>
      </p:sp>
      <p:pic>
        <p:nvPicPr>
          <p:cNvPr id="22" name="Image 0" descr="Verifi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5316240"/>
            <a:ext cx="304800" cy="304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24000" y="5273080"/>
            <a:ext cx="988923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sonuç iyidir; doğrulanmış sonuç daha iyidir.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19 / 62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876399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Siparişler ve teslimatlar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647009"/>
            <a:ext cx="295191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Excel dosyamız var. Şehir adları farklı yazılmış, tarihler karışık, bazı kayıtlar tekrar ediyor.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074914"/>
            <a:ext cx="3380383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33208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647009"/>
            <a:ext cx="295201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Dosyaları yükleyip verileri temizleteceğiz ve iki listeyi sipariş numarasına göre eşleştireceğiz.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647009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Teslim edilmemiş ve geciken siparişlerin listesi ile indirilebilir temiz bir Excel dosyası.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62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391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03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05039"/>
            <a:ext cx="752157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Raporlama ve Karar Destek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240347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veriden profesyonel rapor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02000" y="5266134"/>
            <a:ext cx="1463179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Yönetici raporları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7729" y="5266134"/>
            <a:ext cx="2047677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ve performans analizi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1945878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Aksiyon ve öneri listeleri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4403" y="5695355"/>
            <a:ext cx="158184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Bütünleşik raporlar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62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03 · HAM VERİDEN KARARA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Veriden karara dört basamak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3810000"/>
            <a:ext cx="2546350" cy="2032000"/>
          </a:xfrm>
          <a:custGeom>
            <a:avLst/>
            <a:gdLst/>
            <a:ahLst/>
            <a:cxnLst/>
            <a:rect l="l" t="t" r="r" b="b"/>
            <a:pathLst>
              <a:path w="2546350" h="2032000">
                <a:moveTo>
                  <a:pt x="152400" y="0"/>
                </a:moveTo>
                <a:lnTo>
                  <a:pt x="2393950" y="0"/>
                </a:lnTo>
                <a:arcTo hR="152400" wR="152400" stAng="16200000" swAng="5400000"/>
                <a:lnTo>
                  <a:pt x="2546350" y="1981200"/>
                </a:lnTo>
                <a:arcTo hR="50800" wR="50800" stAng="0" swAng="5400000"/>
                <a:lnTo>
                  <a:pt x="50800" y="2032000"/>
                </a:lnTo>
                <a:arcTo hR="50800" wR="508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EAE4D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013200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VERİ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4277320"/>
            <a:ext cx="2204149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var?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4649391"/>
            <a:ext cx="220414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Sipariş ve teslim tarihleri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86150" y="3302000"/>
            <a:ext cx="2546350" cy="2540000"/>
          </a:xfrm>
          <a:custGeom>
            <a:avLst/>
            <a:gdLst/>
            <a:ahLst/>
            <a:cxnLst/>
            <a:rect l="l" t="t" r="r" b="b"/>
            <a:pathLst>
              <a:path w="2546350" h="2540000">
                <a:moveTo>
                  <a:pt x="152400" y="0"/>
                </a:moveTo>
                <a:lnTo>
                  <a:pt x="2393950" y="0"/>
                </a:lnTo>
                <a:arcTo hR="152400" wR="152400" stAng="16200000" swAng="5400000"/>
                <a:lnTo>
                  <a:pt x="2546350" y="2489200"/>
                </a:lnTo>
                <a:arcTo hR="50800" wR="50800" stAng="0" swAng="5400000"/>
                <a:lnTo>
                  <a:pt x="50800" y="2540000"/>
                </a:lnTo>
                <a:arcTo hR="50800" wR="508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E3D6"/>
          </a:solidFill>
          <a:ln/>
        </p:spPr>
      </p:sp>
      <p:sp>
        <p:nvSpPr>
          <p:cNvPr id="10" name="Text 8"/>
          <p:cNvSpPr/>
          <p:nvPr/>
        </p:nvSpPr>
        <p:spPr>
          <a:xfrm>
            <a:off x="3689350" y="3505200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BİLGİ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9350" y="3769320"/>
            <a:ext cx="2204149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oldu?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89350" y="4141391"/>
            <a:ext cx="220414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Siparişlerin bir kısmı geç teslim edilmiş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59500" y="2794000"/>
            <a:ext cx="2546350" cy="3048000"/>
          </a:xfrm>
          <a:custGeom>
            <a:avLst/>
            <a:gdLst/>
            <a:ahLst/>
            <a:cxnLst/>
            <a:rect l="l" t="t" r="r" b="b"/>
            <a:pathLst>
              <a:path w="2546350" h="3048000">
                <a:moveTo>
                  <a:pt x="152400" y="0"/>
                </a:moveTo>
                <a:lnTo>
                  <a:pt x="2393950" y="0"/>
                </a:lnTo>
                <a:arcTo hR="152400" wR="152400" stAng="16200000" swAng="5400000"/>
                <a:lnTo>
                  <a:pt x="2546350" y="2997200"/>
                </a:lnTo>
                <a:arcTo hR="50800" wR="50800" stAng="0" swAng="5400000"/>
                <a:lnTo>
                  <a:pt x="50800" y="3048000"/>
                </a:lnTo>
                <a:arcTo hR="50800" wR="508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B899"/>
          </a:solidFill>
          <a:ln/>
        </p:spPr>
      </p:sp>
      <p:sp>
        <p:nvSpPr>
          <p:cNvPr id="14" name="Text 12"/>
          <p:cNvSpPr/>
          <p:nvPr/>
        </p:nvSpPr>
        <p:spPr>
          <a:xfrm>
            <a:off x="6362700" y="2997200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İÇGÖRÜ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261320"/>
            <a:ext cx="2204149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oldu?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62700" y="3633391"/>
            <a:ext cx="220414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Gecikmeler tek bir bölgede yoğunlaşıyor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32850" y="2286000"/>
            <a:ext cx="2546350" cy="3556000"/>
          </a:xfrm>
          <a:custGeom>
            <a:avLst/>
            <a:gdLst/>
            <a:ahLst/>
            <a:cxnLst/>
            <a:rect l="l" t="t" r="r" b="b"/>
            <a:pathLst>
              <a:path w="2546350" h="3556000">
                <a:moveTo>
                  <a:pt x="152400" y="0"/>
                </a:moveTo>
                <a:lnTo>
                  <a:pt x="2393950" y="0"/>
                </a:lnTo>
                <a:arcTo hR="152400" wR="152400" stAng="16200000" swAng="5400000"/>
                <a:lnTo>
                  <a:pt x="2546350" y="3505200"/>
                </a:lnTo>
                <a:arcTo hR="50800" wR="50800" stAng="0" swAng="5400000"/>
                <a:lnTo>
                  <a:pt x="50800" y="3556000"/>
                </a:lnTo>
                <a:arcTo hR="50800" wR="508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6A3D"/>
          </a:solidFill>
          <a:ln/>
          <a:effectLst>
            <a:outerShdw sx="100000" sy="100000" kx="0" ky="0" algn="bl" rotWithShape="0" blurRad="304800" dist="127000" dir="5400000">
              <a:srgbClr val="FF6A3D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36050" y="2489200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AKSİYON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36050" y="2753320"/>
            <a:ext cx="2204149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yapmalı?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36050" y="3125391"/>
            <a:ext cx="220414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bölgenin lojistik firmasıyla görüşülmeli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22 / 62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03 · YÖNETİCİ RAPORU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sayfalık raporun anatomisi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1480000">
            <a:off x="812800" y="2100560"/>
            <a:ext cx="3683000" cy="3556000"/>
          </a:xfrm>
          <a:prstGeom prst="roundRect">
            <a:avLst>
              <a:gd name="adj" fmla="val 2857"/>
            </a:avLst>
          </a:prstGeom>
          <a:solidFill>
            <a:srgbClr val="FFFDF8"/>
          </a:solidFill>
          <a:ln/>
          <a:effectLst>
            <a:outerShdw sx="100000" sy="100000" kx="0" ky="0" algn="bl" rotWithShape="0" blurRad="355600" dist="152400" dir="5400000">
              <a:srgbClr val="1016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 rot="21480000">
            <a:off x="991511" y="2328437"/>
            <a:ext cx="332257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ANA MESAJ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 rot="21480000">
            <a:off x="1004304" y="2606731"/>
            <a:ext cx="3225800" cy="419100"/>
          </a:xfrm>
          <a:prstGeom prst="roundRect">
            <a:avLst>
              <a:gd name="adj" fmla="val 15152"/>
            </a:avLst>
          </a:prstGeom>
          <a:solidFill>
            <a:srgbClr val="10162A"/>
          </a:solidFill>
          <a:ln/>
        </p:spPr>
        <p:txBody>
          <a:bodyPr wrap="square" lIns="108401" tIns="83001" rIns="19247" bIns="576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Gecikmeler tek bölgede yoğunlaşıyor.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 rot="21480000">
            <a:off x="1017925" y="3084819"/>
            <a:ext cx="332257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BULGULAR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21480000">
            <a:off x="1025094" y="3369816"/>
            <a:ext cx="2921000" cy="88900"/>
          </a:xfrm>
          <a:prstGeom prst="roundRect">
            <a:avLst>
              <a:gd name="adj" fmla="val 50000"/>
            </a:avLst>
          </a:prstGeom>
          <a:solidFill>
            <a:srgbClr val="E4DED1"/>
          </a:solidFill>
          <a:ln/>
        </p:spPr>
      </p:sp>
      <p:sp>
        <p:nvSpPr>
          <p:cNvPr id="10" name="Shape 8"/>
          <p:cNvSpPr/>
          <p:nvPr/>
        </p:nvSpPr>
        <p:spPr>
          <a:xfrm rot="21480000">
            <a:off x="1030972" y="3541458"/>
            <a:ext cx="2540000" cy="88900"/>
          </a:xfrm>
          <a:prstGeom prst="roundRect">
            <a:avLst>
              <a:gd name="adj" fmla="val 50000"/>
            </a:avLst>
          </a:prstGeom>
          <a:solidFill>
            <a:srgbClr val="E4DED1"/>
          </a:solidFill>
          <a:ln/>
        </p:spPr>
      </p:sp>
      <p:sp>
        <p:nvSpPr>
          <p:cNvPr id="11" name="Shape 9"/>
          <p:cNvSpPr/>
          <p:nvPr/>
        </p:nvSpPr>
        <p:spPr>
          <a:xfrm rot="21480000">
            <a:off x="1036675" y="3703135"/>
            <a:ext cx="2730500" cy="88900"/>
          </a:xfrm>
          <a:prstGeom prst="roundRect">
            <a:avLst>
              <a:gd name="adj" fmla="val 50000"/>
            </a:avLst>
          </a:prstGeom>
          <a:solidFill>
            <a:srgbClr val="E4DED1"/>
          </a:solidFill>
          <a:ln/>
        </p:spPr>
      </p:sp>
      <p:sp>
        <p:nvSpPr>
          <p:cNvPr id="12" name="Text 10"/>
          <p:cNvSpPr/>
          <p:nvPr/>
        </p:nvSpPr>
        <p:spPr>
          <a:xfrm rot="21480000">
            <a:off x="1044428" y="3843780"/>
            <a:ext cx="332257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GRAFİK</a:t>
            </a:r>
            <a:endParaRPr lang="en-US" sz="1200" dirty="0"/>
          </a:p>
        </p:txBody>
      </p:sp>
      <p:pic>
        <p:nvPicPr>
          <p:cNvPr id="13" name="Image 0" descr="Bölgelere göre gecikme sayısını gösteren örnek çubuk grafik; bir bölge belirgin şekilde yükse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21480000">
            <a:off x="1059925" y="4123302"/>
            <a:ext cx="3225800" cy="5715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 rot="21480000">
            <a:off x="1076250" y="4755043"/>
            <a:ext cx="332257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AKSİYON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 rot="21480000">
            <a:off x="1094950" y="5039692"/>
            <a:ext cx="3213100" cy="3810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FF6A3D"/>
            </a:solidFill>
            <a:prstDash val="dash"/>
          </a:ln>
        </p:spPr>
        <p:txBody>
          <a:bodyPr wrap="square" lIns="116611" tIns="65811" rIns="28219" bIns="4041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Lojistik görüşmesi · Bu hafta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53000" y="24232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61000" y="2423220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cümlelik ana mesaj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61000" y="2733080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Yönetici yalnızca bunu okusa bile yeterli olmalı.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53000" y="319534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61000" y="3195340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fazla üç bulgu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61000" y="3505200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Rakamla desteklenmiş, kısa cümleler.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53000" y="396746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61000" y="3967460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bir grafik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61000" y="4277320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mesajı gösteren en net görsel.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53000" y="47395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61000" y="4739580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aksiyonlar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61000" y="5049441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yapılacak, kim yapacak, ne zamana?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23 / 62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03 · KPI VE PERFORMANS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işin nabzını tutmak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3556000" cy="3926880"/>
          </a:xfrm>
          <a:prstGeom prst="roundRect">
            <a:avLst>
              <a:gd name="adj" fmla="val 4286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800" y="216912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66800" y="2880320"/>
            <a:ext cx="313944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işin hedefe ne kadar yaklaştığını gösteren ölçülebilir gösterge.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4419699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ZEKAYA SORUN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4734620"/>
            <a:ext cx="313944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veriden 3 temel KPI hesapla, geçen dönemle karşılaştır ve yorumla.”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5175" y="2252365"/>
            <a:ext cx="6800850" cy="1012130"/>
          </a:xfrm>
          <a:prstGeom prst="roundRect">
            <a:avLst>
              <a:gd name="adj" fmla="val 14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1550" y="252978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2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83150" y="2631380"/>
            <a:ext cx="254000" cy="254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91150" y="2433340"/>
            <a:ext cx="59518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Zamanında teslim oranı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91150" y="2768600"/>
            <a:ext cx="3003153" cy="314920"/>
          </a:xfrm>
          <a:prstGeom prst="roundRect">
            <a:avLst>
              <a:gd name="adj" fmla="val 20164"/>
            </a:avLst>
          </a:prstGeom>
          <a:solidFill>
            <a:srgbClr val="F5F2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Zamanında teslim edilen ÷ Toplam sipariş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5175" y="3372445"/>
            <a:ext cx="6800850" cy="1012130"/>
          </a:xfrm>
          <a:prstGeom prst="roundRect">
            <a:avLst>
              <a:gd name="adj" fmla="val 14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81550" y="3649861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7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83150" y="3751461"/>
            <a:ext cx="254000" cy="254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1150" y="3553420"/>
            <a:ext cx="59518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Ortalama yanıt süresi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391150" y="3888680"/>
            <a:ext cx="2486422" cy="314920"/>
          </a:xfrm>
          <a:prstGeom prst="roundRect">
            <a:avLst>
              <a:gd name="adj" fmla="val 20164"/>
            </a:avLst>
          </a:prstGeom>
          <a:solidFill>
            <a:srgbClr val="F5F2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yanıt süresi ÷ Talep sayısı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5175" y="4492526"/>
            <a:ext cx="6800850" cy="1012130"/>
          </a:xfrm>
          <a:prstGeom prst="roundRect">
            <a:avLst>
              <a:gd name="adj" fmla="val 14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81550" y="4769941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2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83150" y="4871541"/>
            <a:ext cx="254000" cy="2540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1150" y="4673501"/>
            <a:ext cx="59518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 gerçekleşme oranı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391150" y="5008761"/>
            <a:ext cx="2125464" cy="314920"/>
          </a:xfrm>
          <a:prstGeom prst="roundRect">
            <a:avLst>
              <a:gd name="adj" fmla="val 20164"/>
            </a:avLst>
          </a:prstGeom>
          <a:solidFill>
            <a:srgbClr val="F5F2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Harcanan ÷ Planlanan bütçe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24 / 62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03 · AKSİYON VE ÖNERİ LİSTELERİ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Bulgudan aksiyona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10566400" cy="2208907"/>
          </a:xfrm>
          <a:prstGeom prst="roundRect">
            <a:avLst>
              <a:gd name="adj" fmla="val 5749"/>
            </a:avLst>
          </a:prstGeom>
          <a:solidFill>
            <a:srgbClr val="FFF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915120"/>
            <a:ext cx="10566400" cy="2208907"/>
          </a:xfrm>
          <a:custGeom>
            <a:avLst/>
            <a:gdLst/>
            <a:ahLst/>
            <a:cxnLst/>
            <a:rect l="l" t="t" r="r" b="b"/>
            <a:pathLst>
              <a:path w="10566400" h="2208907">
                <a:moveTo>
                  <a:pt x="127000" y="2208907"/>
                </a:moveTo>
                <a:lnTo>
                  <a:pt x="127000" y="2208907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0439400" y="0"/>
                </a:lnTo>
                <a:arcTo hR="127000" wR="127000" stAng="16200000" swAng="5400000"/>
                <a:lnTo>
                  <a:pt x="10566400" y="127000"/>
                </a:lnTo>
                <a:arcTo hR="114300" wR="127000" stAng="0" swAng="-5400000"/>
                <a:lnTo>
                  <a:pt x="127000" y="12700"/>
                </a:lnTo>
                <a:arcTo hR="114300" wR="114300" stAng="16200000" swAng="-5400000"/>
                <a:lnTo>
                  <a:pt x="12700" y="2081907"/>
                </a:lnTo>
                <a:arcTo hR="127000" wR="1143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27820"/>
          <a:ext cx="10553700" cy="2196207"/>
        </p:xfrm>
        <a:graphic>
          <a:graphicData uri="http://schemas.openxmlformats.org/drawingml/2006/table">
            <a:tbl>
              <a:tblPr/>
              <a:tblGrid>
                <a:gridCol w="3588258"/>
                <a:gridCol w="3799332"/>
                <a:gridCol w="1583055"/>
                <a:gridCol w="1583055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Bulgu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Önerilen aksiyon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Sorumlu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Süre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Gecikmeler tek bölgede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Lojistik firmasıyla görüşme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Satın alma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hafta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Bazı tutarlar eksik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Zorunlu alan kuralı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Muhasebe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 sonu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Mükerrer kayıtlar var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 mükerrer kontrolü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Operasyon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 cuma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Bir müşteride iptal artışı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Memnuniyet görüşmesi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Satış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4378027"/>
            <a:ext cx="10566400" cy="660400"/>
          </a:xfrm>
          <a:prstGeom prst="roundRect">
            <a:avLst>
              <a:gd name="adj" fmla="val 23077"/>
            </a:avLst>
          </a:prstGeom>
          <a:solidFill>
            <a:srgbClr val="FFE3D6"/>
          </a:solidFill>
          <a:ln/>
        </p:spPr>
      </p:sp>
      <p:pic>
        <p:nvPicPr>
          <p:cNvPr id="9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4555827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4000" y="4565948"/>
            <a:ext cx="98892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“Bulguları bir aksiyon tablosuna dönüştür: aksiyon, sorumlu birim, öncelik ve süre olsun.”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25 / 62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03 · BÜTÜNLEŞİK RAPOR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Farklı kaynaklar, tek rapor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2169815"/>
            <a:ext cx="2914650" cy="544810"/>
          </a:xfrm>
          <a:prstGeom prst="roundRect">
            <a:avLst>
              <a:gd name="adj" fmla="val 1806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6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315170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2550" y="2299990"/>
            <a:ext cx="16534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tabloları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5975" y="2822575"/>
            <a:ext cx="2914650" cy="544810"/>
          </a:xfrm>
          <a:prstGeom prst="roundRect">
            <a:avLst>
              <a:gd name="adj" fmla="val 1806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2967930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2550" y="2952750"/>
            <a:ext cx="22768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E-posta yazışmaları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5975" y="3475335"/>
            <a:ext cx="2914650" cy="544810"/>
          </a:xfrm>
          <a:prstGeom prst="roundRect">
            <a:avLst>
              <a:gd name="adj" fmla="val 1806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2" name="Image 2" descr="Boo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1550" y="3620691"/>
            <a:ext cx="254000" cy="254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2550" y="3605510"/>
            <a:ext cx="17428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 notları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15975" y="4128095"/>
            <a:ext cx="2914650" cy="544810"/>
          </a:xfrm>
          <a:prstGeom prst="roundRect">
            <a:avLst>
              <a:gd name="adj" fmla="val 1806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5" name="Image 3" descr="Glob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550" y="4273451"/>
            <a:ext cx="254000" cy="254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52550" y="4258270"/>
            <a:ext cx="187940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araştırması</a:t>
            </a:r>
            <a:endParaRPr lang="en-US" sz="1600" dirty="0"/>
          </a:p>
        </p:txBody>
      </p:sp>
      <p:pic>
        <p:nvPicPr>
          <p:cNvPr id="17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86200" y="3319760"/>
            <a:ext cx="406400" cy="2032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445000" y="2532360"/>
            <a:ext cx="1778000" cy="177800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  <a:effectLst>
            <a:outerShdw sx="100000" sy="100000" kx="0" ky="0" algn="bl" rotWithShape="0" blurRad="127000" dist="0" dir="60000">
              <a:srgbClr val="FF6A3D">
                <a:alpha val="16000"/>
              </a:srgbClr>
            </a:outerShdw>
          </a:effectLst>
        </p:spPr>
      </p:sp>
      <p:pic>
        <p:nvPicPr>
          <p:cNvPr id="19" name="Image 5" descr="Lightni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105400" y="295662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73600" y="3490020"/>
            <a:ext cx="1320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birleştirir</a:t>
            </a:r>
            <a:endParaRPr lang="en-US" sz="1200" dirty="0"/>
          </a:p>
        </p:txBody>
      </p:sp>
      <p:pic>
        <p:nvPicPr>
          <p:cNvPr id="21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75400" y="3319760"/>
            <a:ext cx="406400" cy="2032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940550" y="2273995"/>
            <a:ext cx="4432300" cy="2294731"/>
          </a:xfrm>
          <a:prstGeom prst="roundRect">
            <a:avLst>
              <a:gd name="adj" fmla="val 6365"/>
            </a:avLst>
          </a:prstGeom>
          <a:solidFill>
            <a:srgbClr val="FFFDF8"/>
          </a:solidFill>
          <a:ln w="12700">
            <a:solidFill>
              <a:srgbClr val="FF6A3D"/>
            </a:solidFill>
            <a:prstDash val="solid"/>
          </a:ln>
          <a:effectLst>
            <a:outerShdw sx="100000" sy="100000" kx="0" ky="0" algn="bl" rotWithShape="0" blurRad="304800" dist="127000" dir="5400000">
              <a:srgbClr val="FF6A3D">
                <a:alpha val="16000"/>
              </a:srgbClr>
            </a:outerShdw>
          </a:effectLst>
        </p:spPr>
      </p:sp>
      <p:sp>
        <p:nvSpPr>
          <p:cNvPr id="23" name="Text 14"/>
          <p:cNvSpPr/>
          <p:nvPr/>
        </p:nvSpPr>
        <p:spPr>
          <a:xfrm>
            <a:off x="7200900" y="2508945"/>
            <a:ext cx="40289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ÇIKTI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7200900" y="2798465"/>
            <a:ext cx="402894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Bütünleşik rapor</a:t>
            </a:r>
            <a:endParaRPr lang="en-US" sz="2200" dirty="0"/>
          </a:p>
        </p:txBody>
      </p:sp>
      <p:sp>
        <p:nvSpPr>
          <p:cNvPr id="25" name="Text 16"/>
          <p:cNvSpPr/>
          <p:nvPr/>
        </p:nvSpPr>
        <p:spPr>
          <a:xfrm>
            <a:off x="7252208" y="3195935"/>
            <a:ext cx="397078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ana mesaj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bazında bulgular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Çelişkiler ve eksikler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aksiyon listesi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812800" y="5181600"/>
            <a:ext cx="10566400" cy="660400"/>
          </a:xfrm>
          <a:prstGeom prst="roundRect">
            <a:avLst>
              <a:gd name="adj" fmla="val 23077"/>
            </a:avLst>
          </a:prstGeom>
          <a:solidFill>
            <a:srgbClr val="10162A"/>
          </a:solidFill>
          <a:ln/>
        </p:spPr>
      </p:sp>
      <p:pic>
        <p:nvPicPr>
          <p:cNvPr id="27" name="Image 7" descr="Cha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6800" y="5359400"/>
            <a:ext cx="304800" cy="3048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524000" y="5369520"/>
            <a:ext cx="98892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“Ekteki tabloyu, e-postaları ve toplantı notlarını birlikte değerlendir; çelişkileri belirt ve tek bir rapor hazırla.”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26 / 62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876399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Analizden yönetici raporuna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647009"/>
            <a:ext cx="295191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Temizlediğimiz sipariş verisi hazır. Şimdi yöneticiye sunulacak bir rapora dönüşecek.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074914"/>
            <a:ext cx="3380383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33208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647009"/>
            <a:ext cx="295201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sohbette KPI’ları hesaplatıp bir grafik, bir sayfalık özet ve aksiyon listesi isteyeceğiz.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647009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olarak indirilip paylaşılabilecek bir yönetici raporu.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62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405397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04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445099"/>
            <a:ext cx="752157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Piyasa ve Rakip Analizi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157311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Piyasa araştırması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71638" y="5266134"/>
            <a:ext cx="2199878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karşılaştırma tabloları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066" y="5266134"/>
            <a:ext cx="142934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Sektörel trendler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201354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müşteri ve fırsatlar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12070" y="5695355"/>
            <a:ext cx="1894880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Araştırmayı raporlamak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62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04 · PİYASA ARAŞTIRMASI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ile derin araştırma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5181600" cy="3345259"/>
          </a:xfrm>
          <a:prstGeom prst="roundRect">
            <a:avLst>
              <a:gd name="adj" fmla="val 4556"/>
            </a:avLst>
          </a:prstGeom>
          <a:solidFill>
            <a:srgbClr val="EFEAE0"/>
          </a:solidFill>
          <a:ln/>
        </p:spPr>
      </p:sp>
      <p:pic>
        <p:nvPicPr>
          <p:cNvPr id="6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169120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2400" y="2189460"/>
            <a:ext cx="1679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KLASİK ARAMA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66800" y="269230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F6677"/>
          </a:solidFill>
          <a:ln/>
        </p:spPr>
      </p:sp>
      <p:sp>
        <p:nvSpPr>
          <p:cNvPr id="9" name="Text 6"/>
          <p:cNvSpPr/>
          <p:nvPr/>
        </p:nvSpPr>
        <p:spPr>
          <a:xfrm>
            <a:off x="1295400" y="2600920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on bağlantı verir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66800" y="315456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F6677"/>
          </a:solidFill>
          <a:ln/>
        </p:spPr>
      </p:sp>
      <p:sp>
        <p:nvSpPr>
          <p:cNvPr id="11" name="Text 8"/>
          <p:cNvSpPr/>
          <p:nvPr/>
        </p:nvSpPr>
        <p:spPr>
          <a:xfrm>
            <a:off x="1295400" y="3063180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Okumak, ayıklamak ve birleştirmek size kalır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66800" y="361682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F6677"/>
          </a:solidFill>
          <a:ln/>
        </p:spPr>
      </p:sp>
      <p:sp>
        <p:nvSpPr>
          <p:cNvPr id="13" name="Text 10"/>
          <p:cNvSpPr/>
          <p:nvPr/>
        </p:nvSpPr>
        <p:spPr>
          <a:xfrm>
            <a:off x="1295400" y="3525441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Kapsamlı bir tarama saatler sürebilir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97600" y="1915120"/>
            <a:ext cx="5181600" cy="3345259"/>
          </a:xfrm>
          <a:prstGeom prst="roundRect">
            <a:avLst>
              <a:gd name="adj" fmla="val 4556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pic>
        <p:nvPicPr>
          <p:cNvPr id="15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1600" y="2169120"/>
            <a:ext cx="254000" cy="254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07200" y="2189460"/>
            <a:ext cx="2053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DERİN ARAŞTIRMA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51600" y="269230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18" name="Text 14"/>
          <p:cNvSpPr/>
          <p:nvPr/>
        </p:nvSpPr>
        <p:spPr>
          <a:xfrm>
            <a:off x="6680200" y="2600920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Onlarca kaynağı kendisi tarar ve okur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51600" y="315456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20" name="Text 16"/>
          <p:cNvSpPr/>
          <p:nvPr/>
        </p:nvSpPr>
        <p:spPr>
          <a:xfrm>
            <a:off x="6680200" y="3063180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Bulguları kaynaklarıyla birlikte raporlar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51600" y="361682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22" name="Text 18"/>
          <p:cNvSpPr/>
          <p:nvPr/>
        </p:nvSpPr>
        <p:spPr>
          <a:xfrm>
            <a:off x="6680200" y="3525441"/>
            <a:ext cx="4699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başka işle uğraşırken birkaç dakikada çalışır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12800" y="5571530"/>
            <a:ext cx="17871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ARAÇLARDAKİ ADI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603103" y="5517555"/>
            <a:ext cx="2165945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· Derin araştırma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51598" y="5517555"/>
            <a:ext cx="2013645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· Deep Research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947793" y="5517555"/>
            <a:ext cx="1609824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Araştırma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29 / 62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03400" y="2209800"/>
            <a:ext cx="8559800" cy="25400"/>
          </a:xfrm>
          <a:prstGeom prst="rect">
            <a:avLst/>
          </a:prstGeom>
          <a:solidFill>
            <a:srgbClr val="E4DED1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04 · ARAŞTIRMAYI TASARLAMAK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bir araştırmanın beş adımı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503660" y="19151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1912" y="2626320"/>
            <a:ext cx="207299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Soruyu netleştirin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2930" y="2992041"/>
            <a:ext cx="20510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kararı vereceğim?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7380" y="19151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39103" y="2626320"/>
            <a:ext cx="162615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Kapsamı çizin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649" y="2992041"/>
            <a:ext cx="20511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Ülke, dönem, kaç rakip?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1200" y="19151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3015" y="2626320"/>
            <a:ext cx="204597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Kaynağı tarif edin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0470" y="2992041"/>
            <a:ext cx="20510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Resmi siteler, güncel haberler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4920" y="19151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02855" y="2626320"/>
            <a:ext cx="127373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Ölçüt verin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14189" y="2992041"/>
            <a:ext cx="20511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Fiyat, özellik, hedef kitle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78740" y="19151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597499" y="2626320"/>
            <a:ext cx="157198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Çıktıyı isteyin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265" y="2992041"/>
            <a:ext cx="21145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Tablo, özet ve öneri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4917480"/>
            <a:ext cx="10566400" cy="924520"/>
          </a:xfrm>
          <a:prstGeom prst="roundRect">
            <a:avLst>
              <a:gd name="adj" fmla="val 16484"/>
            </a:avLst>
          </a:prstGeom>
          <a:solidFill>
            <a:srgbClr val="10162A"/>
          </a:solidFill>
          <a:ln/>
        </p:spPr>
      </p:sp>
      <p:pic>
        <p:nvPicPr>
          <p:cNvPr id="22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5227340"/>
            <a:ext cx="304800" cy="304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24000" y="5095280"/>
            <a:ext cx="98892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“Türkiye’deki ilk 5 oyuncuyu fiyat, hedef müşteri ve öne çıkan özelliklere göre karşılaştır. Resmi sitelerini ve son bir yılın haberlerini kullan; tablo ve kısa bir öneri ver.”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30 / 62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8022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04 · RAKİP ANALİZİ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802223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karşılaştırma tablosu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760123" y="1327150"/>
            <a:ext cx="2612727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C1B1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şablon · kurgusal firmalar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" y="1915120"/>
            <a:ext cx="10566400" cy="2648148"/>
          </a:xfrm>
          <a:prstGeom prst="roundRect">
            <a:avLst>
              <a:gd name="adj" fmla="val 4796"/>
            </a:avLst>
          </a:prstGeom>
          <a:solidFill>
            <a:srgbClr val="FFFDF8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915120"/>
            <a:ext cx="10566400" cy="2648148"/>
          </a:xfrm>
          <a:custGeom>
            <a:avLst/>
            <a:gdLst/>
            <a:ahLst/>
            <a:cxnLst/>
            <a:rect l="l" t="t" r="r" b="b"/>
            <a:pathLst>
              <a:path w="10566400" h="2648148">
                <a:moveTo>
                  <a:pt x="127000" y="2648148"/>
                </a:moveTo>
                <a:lnTo>
                  <a:pt x="127000" y="2648148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0439400" y="0"/>
                </a:lnTo>
                <a:arcTo hR="127000" wR="127000" stAng="16200000" swAng="5400000"/>
                <a:lnTo>
                  <a:pt x="10566400" y="127000"/>
                </a:lnTo>
                <a:arcTo hR="114300" wR="127000" stAng="0" swAng="-5400000"/>
                <a:lnTo>
                  <a:pt x="127000" y="12700"/>
                </a:lnTo>
                <a:arcTo hR="114300" wR="114300" stAng="16200000" swAng="-5400000"/>
                <a:lnTo>
                  <a:pt x="12700" y="2521148"/>
                </a:lnTo>
                <a:arcTo hR="127000" wR="1143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27820"/>
          <a:ext cx="10553700" cy="2635448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Ölçüt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8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 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8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 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8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 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Fiyat aralığı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Düşük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Yüksek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Hedef müşteri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Küçük ekipler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Orta ölçek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Kurumsal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Öne çıkan özellik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Kolay kullanım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Otomasyon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Gelişmiş raporlama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Güçlü yön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Hızlı başlangıç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Entegrasyonlar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Güvenlik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Zayıf yön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Sınırlı raporlama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Öğrenme süresi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Maliyet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2800" y="4817269"/>
            <a:ext cx="10566400" cy="924520"/>
          </a:xfrm>
          <a:prstGeom prst="roundRect">
            <a:avLst>
              <a:gd name="adj" fmla="val 16484"/>
            </a:avLst>
          </a:prstGeom>
          <a:solidFill>
            <a:srgbClr val="FFE3D6"/>
          </a:solidFill>
          <a:ln/>
        </p:spPr>
      </p:sp>
      <p:pic>
        <p:nvPicPr>
          <p:cNvPr id="10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5127129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24000" y="4995069"/>
            <a:ext cx="98892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üç firmayı tablo halinde karşılaştır: fiyat, hedef müşteri, öne çıkan özellik, güçlü ve zayıf yön. Her bilgi için kaynak göster.”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31 / 62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04 · TREND VE FIRSATLAR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Fırsatı bulmak için üç soru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3414117" cy="3006130"/>
          </a:xfrm>
          <a:prstGeom prst="roundRect">
            <a:avLst>
              <a:gd name="adj" fmla="val 496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31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2770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3150" y="2734270"/>
            <a:ext cx="2986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MÜŞTERİ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3049191"/>
            <a:ext cx="298676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Kim?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73150" y="3472061"/>
            <a:ext cx="29867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üründen en çok kim fayda sağlar, karar vericisi kim?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8842" y="1918295"/>
            <a:ext cx="3414216" cy="3006130"/>
          </a:xfrm>
          <a:prstGeom prst="roundRect">
            <a:avLst>
              <a:gd name="adj" fmla="val 496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6017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3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47617" y="2277070"/>
            <a:ext cx="254000" cy="254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6017" y="2734270"/>
            <a:ext cx="2986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BOŞLUK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6017" y="3049191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eksik?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46017" y="3472061"/>
            <a:ext cx="29868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Rakiplerin karşılamadığı ihtiyaç ya da şikayet ne?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61809" y="1918295"/>
            <a:ext cx="3414216" cy="3006130"/>
          </a:xfrm>
          <a:prstGeom prst="roundRect">
            <a:avLst>
              <a:gd name="adj" fmla="val 496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18984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9" name="Image 2" descr="Activit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0584" y="2277070"/>
            <a:ext cx="254000" cy="254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18984" y="2734270"/>
            <a:ext cx="2986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18984" y="3049191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değişiyor?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218984" y="3472061"/>
            <a:ext cx="29868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gelişme yeni bir talep yaratıyor?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12800" y="5181600"/>
            <a:ext cx="10566400" cy="660400"/>
          </a:xfrm>
          <a:prstGeom prst="roundRect">
            <a:avLst>
              <a:gd name="adj" fmla="val 23077"/>
            </a:avLst>
          </a:prstGeom>
          <a:solidFill>
            <a:srgbClr val="10162A"/>
          </a:solidFill>
          <a:ln/>
        </p:spPr>
      </p:sp>
      <p:pic>
        <p:nvPicPr>
          <p:cNvPr id="24" name="Image 3" descr="Cha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800" y="5359400"/>
            <a:ext cx="304800" cy="3048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24000" y="5369520"/>
            <a:ext cx="98892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araştırmaya göre rakiplerin boş bıraktığı üç fırsat alanını ve her biri için hedef müşteri profilini çıkar.”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32 / 62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6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39200" y="3708400"/>
            <a:ext cx="2540000" cy="254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49105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DİKKAT · KAYNAK KONTROLÜ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58380"/>
            <a:ext cx="9156700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spc="-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emin konuşur; her zaman haklı olmaz.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612680"/>
            <a:ext cx="7848600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Kaynağı gösterilmeyen bilgiyi kullanmayın. Önemli rakam ve iddiaları kaynağına tıklayıp kendiniz doğrulayın.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62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2121595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· Deep Research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yönetim yazılımları pazarı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647009"/>
            <a:ext cx="2951912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kişilik ekibimiz için görev takip aracı seçeceğiz: Trello, Asana, Monday.com, ClickUp, Notion.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074914"/>
            <a:ext cx="3380383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33208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647009"/>
            <a:ext cx="295201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Araştırmayı başlatıp beklerken bir sonraki konuya geçeceğiz, sonra rapora döneceğiz.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074914"/>
            <a:ext cx="3380284" cy="1967111"/>
          </a:xfrm>
          <a:prstGeom prst="roundRect">
            <a:avLst>
              <a:gd name="adj" fmla="val 7586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33208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647009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Kaynaklı bir rapor, karşılaştırma tablosu ve ekibimize uygun bir öneri.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62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391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05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05039"/>
            <a:ext cx="752157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ve İş Süreci Tasarımı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1776809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Fikirden proje planına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75334" y="5266134"/>
            <a:ext cx="2132509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Kapsam, hedef ve görevler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0393" y="5266134"/>
            <a:ext cx="2005112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akışı ve süreç adımları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2149376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Sorumluluk ve zaman planı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7901" y="5695355"/>
            <a:ext cx="77688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07334" y="5695355"/>
            <a:ext cx="188684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 ve değerlendirme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62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05 · FİKİRDEN PROJE PLANINA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Fikirden plana yedi adım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1416050" cy="1431131"/>
          </a:xfrm>
          <a:prstGeom prst="roundRect">
            <a:avLst>
              <a:gd name="adj" fmla="val 8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550" y="2073870"/>
            <a:ext cx="11557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1550" y="2431951"/>
            <a:ext cx="1155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1550" y="2767211"/>
            <a:ext cx="1155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yapmak istiyoruz?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9975" y="1918295"/>
            <a:ext cx="1416050" cy="1431131"/>
          </a:xfrm>
          <a:prstGeom prst="roundRect">
            <a:avLst>
              <a:gd name="adj" fmla="val 8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5550" y="2073870"/>
            <a:ext cx="11557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95550" y="2431951"/>
            <a:ext cx="1155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5550" y="2767211"/>
            <a:ext cx="1155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Neler dahil, neler değil?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63975" y="1918295"/>
            <a:ext cx="1416050" cy="1431131"/>
          </a:xfrm>
          <a:prstGeom prst="roundRect">
            <a:avLst>
              <a:gd name="adj" fmla="val 8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19550" y="2073870"/>
            <a:ext cx="11557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19550" y="2431951"/>
            <a:ext cx="1155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19550" y="2767211"/>
            <a:ext cx="1155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Başarı neye benzer?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87975" y="1918295"/>
            <a:ext cx="1416050" cy="1431131"/>
          </a:xfrm>
          <a:prstGeom prst="roundRect">
            <a:avLst>
              <a:gd name="adj" fmla="val 8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3550" y="2073870"/>
            <a:ext cx="11557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43550" y="2431951"/>
            <a:ext cx="1155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43550" y="2767211"/>
            <a:ext cx="1155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işler gerekli?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11975" y="1918295"/>
            <a:ext cx="1416050" cy="1431131"/>
          </a:xfrm>
          <a:prstGeom prst="roundRect">
            <a:avLst>
              <a:gd name="adj" fmla="val 8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7550" y="2073870"/>
            <a:ext cx="11557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67550" y="2431951"/>
            <a:ext cx="1155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Takvim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67550" y="2767211"/>
            <a:ext cx="1155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zaman, hangi sırayla?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35975" y="1918295"/>
            <a:ext cx="1416050" cy="1431131"/>
          </a:xfrm>
          <a:prstGeom prst="roundRect">
            <a:avLst>
              <a:gd name="adj" fmla="val 874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1550" y="2073870"/>
            <a:ext cx="11557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591550" y="2431951"/>
            <a:ext cx="1155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1550" y="2767211"/>
            <a:ext cx="1155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ters gidebilir?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59975" y="1918295"/>
            <a:ext cx="1416050" cy="1431131"/>
          </a:xfrm>
          <a:prstGeom prst="roundRect">
            <a:avLst>
              <a:gd name="adj" fmla="val 8744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15550" y="2073870"/>
            <a:ext cx="11557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115550" y="2431951"/>
            <a:ext cx="1155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15550" y="2767211"/>
            <a:ext cx="1155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izleyeceğiz?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2800" y="3479602"/>
            <a:ext cx="105664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4DED1"/>
              </a:gs>
              <a:gs pos="100000">
                <a:srgbClr val="FF6A3D"/>
              </a:gs>
            </a:gsLst>
            <a:lin ang="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812800" y="3682802"/>
            <a:ext cx="1423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cümlelik fikir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45243" y="3682802"/>
            <a:ext cx="21339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Uygulanabilir proje planı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2800" y="4917480"/>
            <a:ext cx="10566400" cy="924520"/>
          </a:xfrm>
          <a:prstGeom prst="roundRect">
            <a:avLst>
              <a:gd name="adj" fmla="val 16484"/>
            </a:avLst>
          </a:prstGeom>
          <a:solidFill>
            <a:srgbClr val="10162A"/>
          </a:solidFill>
          <a:ln/>
        </p:spPr>
      </p:sp>
      <p:pic>
        <p:nvPicPr>
          <p:cNvPr id="37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5227340"/>
            <a:ext cx="304800" cy="3048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524000" y="5095280"/>
            <a:ext cx="98892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“Ekibimiz üç ay içinde yeni ofise taşınacak. Bu fikri kapsam, hedef, görev, takvim ve risklerden oluşan bir proje planına dönüştür.”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36 / 62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05 · GÖREV, SORUMLULUK VE ZAMAN PLANI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ofis taşınma takvimi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188972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· SORUMLU · HAFTA 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41800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37609" y="1889720"/>
            <a:ext cx="608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33516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29325" y="1889720"/>
            <a:ext cx="608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5233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1041" y="1889720"/>
            <a:ext cx="608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6949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758" y="1889720"/>
            <a:ext cx="608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8666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4474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00283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96091" y="1889720"/>
            <a:ext cx="6085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2166541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Yerleşim planı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2463701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İdari İşler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7200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21" name="Shape 19"/>
          <p:cNvSpPr/>
          <p:nvPr/>
        </p:nvSpPr>
        <p:spPr>
          <a:xfrm>
            <a:off x="4863009" y="2294731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22" name="Shape 20"/>
          <p:cNvSpPr/>
          <p:nvPr/>
        </p:nvSpPr>
        <p:spPr>
          <a:xfrm>
            <a:off x="5458916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23" name="Shape 21"/>
          <p:cNvSpPr/>
          <p:nvPr/>
        </p:nvSpPr>
        <p:spPr>
          <a:xfrm>
            <a:off x="6054725" y="2294731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24" name="Shape 22"/>
          <p:cNvSpPr/>
          <p:nvPr/>
        </p:nvSpPr>
        <p:spPr>
          <a:xfrm>
            <a:off x="6650633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25" name="Shape 23"/>
          <p:cNvSpPr/>
          <p:nvPr/>
        </p:nvSpPr>
        <p:spPr>
          <a:xfrm>
            <a:off x="7246441" y="2294731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26" name="Shape 24"/>
          <p:cNvSpPr/>
          <p:nvPr/>
        </p:nvSpPr>
        <p:spPr>
          <a:xfrm>
            <a:off x="7842349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27" name="Shape 25"/>
          <p:cNvSpPr/>
          <p:nvPr/>
        </p:nvSpPr>
        <p:spPr>
          <a:xfrm>
            <a:off x="8438158" y="2294731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28" name="Shape 26"/>
          <p:cNvSpPr/>
          <p:nvPr/>
        </p:nvSpPr>
        <p:spPr>
          <a:xfrm>
            <a:off x="9034066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29" name="Shape 27"/>
          <p:cNvSpPr/>
          <p:nvPr/>
        </p:nvSpPr>
        <p:spPr>
          <a:xfrm>
            <a:off x="9629874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25683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21491" y="2294731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32" name="Text 30"/>
          <p:cNvSpPr/>
          <p:nvPr/>
        </p:nvSpPr>
        <p:spPr>
          <a:xfrm>
            <a:off x="812800" y="2740521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Taşınma firması seçimi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" y="3037681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Satın Alma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67200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35" name="Shape 33"/>
          <p:cNvSpPr/>
          <p:nvPr/>
        </p:nvSpPr>
        <p:spPr>
          <a:xfrm>
            <a:off x="4863009" y="286871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36" name="Shape 34"/>
          <p:cNvSpPr/>
          <p:nvPr/>
        </p:nvSpPr>
        <p:spPr>
          <a:xfrm>
            <a:off x="5458916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54725" y="286871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38" name="Shape 36"/>
          <p:cNvSpPr/>
          <p:nvPr/>
        </p:nvSpPr>
        <p:spPr>
          <a:xfrm>
            <a:off x="6650633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39" name="Shape 37"/>
          <p:cNvSpPr/>
          <p:nvPr/>
        </p:nvSpPr>
        <p:spPr>
          <a:xfrm>
            <a:off x="7246441" y="286871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0" name="Shape 38"/>
          <p:cNvSpPr/>
          <p:nvPr/>
        </p:nvSpPr>
        <p:spPr>
          <a:xfrm>
            <a:off x="7842349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1" name="Shape 39"/>
          <p:cNvSpPr/>
          <p:nvPr/>
        </p:nvSpPr>
        <p:spPr>
          <a:xfrm>
            <a:off x="8438158" y="286871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2" name="Shape 40"/>
          <p:cNvSpPr/>
          <p:nvPr/>
        </p:nvSpPr>
        <p:spPr>
          <a:xfrm>
            <a:off x="9034066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3" name="Shape 41"/>
          <p:cNvSpPr/>
          <p:nvPr/>
        </p:nvSpPr>
        <p:spPr>
          <a:xfrm>
            <a:off x="9629874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25683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21491" y="286871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6" name="Text 44"/>
          <p:cNvSpPr/>
          <p:nvPr/>
        </p:nvSpPr>
        <p:spPr>
          <a:xfrm>
            <a:off x="812800" y="3314502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İnternet ve altyapı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2800" y="3611662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 Teknolojileri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67200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49" name="Shape 47"/>
          <p:cNvSpPr/>
          <p:nvPr/>
        </p:nvSpPr>
        <p:spPr>
          <a:xfrm>
            <a:off x="4863009" y="344269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50" name="Shape 48"/>
          <p:cNvSpPr/>
          <p:nvPr/>
        </p:nvSpPr>
        <p:spPr>
          <a:xfrm>
            <a:off x="5458916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51" name="Shape 49"/>
          <p:cNvSpPr/>
          <p:nvPr/>
        </p:nvSpPr>
        <p:spPr>
          <a:xfrm>
            <a:off x="6054725" y="344269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52" name="Shape 50"/>
          <p:cNvSpPr/>
          <p:nvPr/>
        </p:nvSpPr>
        <p:spPr>
          <a:xfrm>
            <a:off x="6650633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53" name="Shape 51"/>
          <p:cNvSpPr/>
          <p:nvPr/>
        </p:nvSpPr>
        <p:spPr>
          <a:xfrm>
            <a:off x="7246441" y="344269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54" name="Shape 52"/>
          <p:cNvSpPr/>
          <p:nvPr/>
        </p:nvSpPr>
        <p:spPr>
          <a:xfrm>
            <a:off x="7842349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55" name="Shape 53"/>
          <p:cNvSpPr/>
          <p:nvPr/>
        </p:nvSpPr>
        <p:spPr>
          <a:xfrm>
            <a:off x="8438158" y="3442692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56" name="Shape 54"/>
          <p:cNvSpPr/>
          <p:nvPr/>
        </p:nvSpPr>
        <p:spPr>
          <a:xfrm>
            <a:off x="9034066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57" name="Shape 55"/>
          <p:cNvSpPr/>
          <p:nvPr/>
        </p:nvSpPr>
        <p:spPr>
          <a:xfrm>
            <a:off x="9629874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58" name="Shape 56"/>
          <p:cNvSpPr/>
          <p:nvPr/>
        </p:nvSpPr>
        <p:spPr>
          <a:xfrm>
            <a:off x="10225683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59" name="Shape 57"/>
          <p:cNvSpPr/>
          <p:nvPr/>
        </p:nvSpPr>
        <p:spPr>
          <a:xfrm>
            <a:off x="10821491" y="3442692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60" name="Text 58"/>
          <p:cNvSpPr/>
          <p:nvPr/>
        </p:nvSpPr>
        <p:spPr>
          <a:xfrm>
            <a:off x="812800" y="3888482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Mobilya ve donanım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12800" y="4185642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Satın Alma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267200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63" name="Shape 61"/>
          <p:cNvSpPr/>
          <p:nvPr/>
        </p:nvSpPr>
        <p:spPr>
          <a:xfrm>
            <a:off x="4863009" y="401667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64" name="Shape 62"/>
          <p:cNvSpPr/>
          <p:nvPr/>
        </p:nvSpPr>
        <p:spPr>
          <a:xfrm>
            <a:off x="5458916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65" name="Shape 63"/>
          <p:cNvSpPr/>
          <p:nvPr/>
        </p:nvSpPr>
        <p:spPr>
          <a:xfrm>
            <a:off x="6054725" y="401667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66" name="Shape 64"/>
          <p:cNvSpPr/>
          <p:nvPr/>
        </p:nvSpPr>
        <p:spPr>
          <a:xfrm>
            <a:off x="6650633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67" name="Shape 65"/>
          <p:cNvSpPr/>
          <p:nvPr/>
        </p:nvSpPr>
        <p:spPr>
          <a:xfrm>
            <a:off x="7246441" y="401667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68" name="Shape 66"/>
          <p:cNvSpPr/>
          <p:nvPr/>
        </p:nvSpPr>
        <p:spPr>
          <a:xfrm>
            <a:off x="7842349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69" name="Shape 67"/>
          <p:cNvSpPr/>
          <p:nvPr/>
        </p:nvSpPr>
        <p:spPr>
          <a:xfrm>
            <a:off x="8438158" y="401667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70" name="Shape 68"/>
          <p:cNvSpPr/>
          <p:nvPr/>
        </p:nvSpPr>
        <p:spPr>
          <a:xfrm>
            <a:off x="9034066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71" name="Shape 69"/>
          <p:cNvSpPr/>
          <p:nvPr/>
        </p:nvSpPr>
        <p:spPr>
          <a:xfrm>
            <a:off x="9629874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72" name="Shape 70"/>
          <p:cNvSpPr/>
          <p:nvPr/>
        </p:nvSpPr>
        <p:spPr>
          <a:xfrm>
            <a:off x="10225683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73" name="Shape 71"/>
          <p:cNvSpPr/>
          <p:nvPr/>
        </p:nvSpPr>
        <p:spPr>
          <a:xfrm>
            <a:off x="10821491" y="401667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74" name="Text 72"/>
          <p:cNvSpPr/>
          <p:nvPr/>
        </p:nvSpPr>
        <p:spPr>
          <a:xfrm>
            <a:off x="812800" y="4462463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Çalışanlara duyuru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12800" y="4759623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Kaynakları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267200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77" name="Shape 75"/>
          <p:cNvSpPr/>
          <p:nvPr/>
        </p:nvSpPr>
        <p:spPr>
          <a:xfrm>
            <a:off x="4863009" y="459065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78" name="Shape 76"/>
          <p:cNvSpPr/>
          <p:nvPr/>
        </p:nvSpPr>
        <p:spPr>
          <a:xfrm>
            <a:off x="5458916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054725" y="459065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80" name="Shape 78"/>
          <p:cNvSpPr/>
          <p:nvPr/>
        </p:nvSpPr>
        <p:spPr>
          <a:xfrm>
            <a:off x="6650633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81" name="Shape 79"/>
          <p:cNvSpPr/>
          <p:nvPr/>
        </p:nvSpPr>
        <p:spPr>
          <a:xfrm>
            <a:off x="7246441" y="459065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82" name="Shape 80"/>
          <p:cNvSpPr/>
          <p:nvPr/>
        </p:nvSpPr>
        <p:spPr>
          <a:xfrm>
            <a:off x="7842349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83" name="Shape 81"/>
          <p:cNvSpPr/>
          <p:nvPr/>
        </p:nvSpPr>
        <p:spPr>
          <a:xfrm>
            <a:off x="8438158" y="4590653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84" name="Shape 82"/>
          <p:cNvSpPr/>
          <p:nvPr/>
        </p:nvSpPr>
        <p:spPr>
          <a:xfrm>
            <a:off x="9034066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85" name="Shape 83"/>
          <p:cNvSpPr/>
          <p:nvPr/>
        </p:nvSpPr>
        <p:spPr>
          <a:xfrm>
            <a:off x="9629874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86" name="Shape 84"/>
          <p:cNvSpPr/>
          <p:nvPr/>
        </p:nvSpPr>
        <p:spPr>
          <a:xfrm>
            <a:off x="10225683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87" name="Shape 85"/>
          <p:cNvSpPr/>
          <p:nvPr/>
        </p:nvSpPr>
        <p:spPr>
          <a:xfrm>
            <a:off x="10821491" y="4590653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88" name="Text 86"/>
          <p:cNvSpPr/>
          <p:nvPr/>
        </p:nvSpPr>
        <p:spPr>
          <a:xfrm>
            <a:off x="812800" y="5036443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Taşınma günü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12800" y="5333603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ekip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267200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1" name="Shape 89"/>
          <p:cNvSpPr/>
          <p:nvPr/>
        </p:nvSpPr>
        <p:spPr>
          <a:xfrm>
            <a:off x="4863009" y="5164634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2" name="Shape 90"/>
          <p:cNvSpPr/>
          <p:nvPr/>
        </p:nvSpPr>
        <p:spPr>
          <a:xfrm>
            <a:off x="5458916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3" name="Shape 91"/>
          <p:cNvSpPr/>
          <p:nvPr/>
        </p:nvSpPr>
        <p:spPr>
          <a:xfrm>
            <a:off x="6054725" y="5164634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4" name="Shape 92"/>
          <p:cNvSpPr/>
          <p:nvPr/>
        </p:nvSpPr>
        <p:spPr>
          <a:xfrm>
            <a:off x="6650633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5" name="Shape 93"/>
          <p:cNvSpPr/>
          <p:nvPr/>
        </p:nvSpPr>
        <p:spPr>
          <a:xfrm>
            <a:off x="7246441" y="5164634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6" name="Shape 94"/>
          <p:cNvSpPr/>
          <p:nvPr/>
        </p:nvSpPr>
        <p:spPr>
          <a:xfrm>
            <a:off x="7842349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7" name="Shape 95"/>
          <p:cNvSpPr/>
          <p:nvPr/>
        </p:nvSpPr>
        <p:spPr>
          <a:xfrm>
            <a:off x="8438158" y="5164634"/>
            <a:ext cx="557808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8" name="Shape 96"/>
          <p:cNvSpPr/>
          <p:nvPr/>
        </p:nvSpPr>
        <p:spPr>
          <a:xfrm>
            <a:off x="9034066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99" name="Shape 97"/>
          <p:cNvSpPr/>
          <p:nvPr/>
        </p:nvSpPr>
        <p:spPr>
          <a:xfrm>
            <a:off x="9629874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25683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E9E3D6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821491" y="5164634"/>
            <a:ext cx="557709" cy="254000"/>
          </a:xfrm>
          <a:prstGeom prst="roundRect">
            <a:avLst>
              <a:gd name="adj" fmla="val 20000"/>
            </a:avLst>
          </a:prstGeom>
          <a:solidFill>
            <a:srgbClr val="10162A"/>
          </a:solidFill>
          <a:ln/>
        </p:spPr>
      </p:sp>
      <p:sp>
        <p:nvSpPr>
          <p:cNvPr id="102" name="Text 10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37 / 62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05 · RİSKLER VE OLASI SORUNLAR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Riskleri önceden görmek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3124200" cy="1805980"/>
          </a:xfrm>
          <a:prstGeom prst="roundRect">
            <a:avLst>
              <a:gd name="adj" fmla="val 7032"/>
            </a:avLst>
          </a:prstGeom>
          <a:solidFill>
            <a:srgbClr val="FFE3D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18320"/>
            <a:ext cx="279933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ETKİ · DÜŞÜK OLASILIK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595761"/>
            <a:ext cx="279933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planı hazırlayın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967831"/>
            <a:ext cx="292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Örn. taşınma günü firmanın gelmemesi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38600" y="1915120"/>
            <a:ext cx="3124200" cy="1805980"/>
          </a:xfrm>
          <a:prstGeom prst="roundRect">
            <a:avLst>
              <a:gd name="adj" fmla="val 7032"/>
            </a:avLst>
          </a:prstGeom>
          <a:solidFill>
            <a:srgbClr val="FF6A3D"/>
          </a:solidFill>
          <a:ln/>
          <a:effectLst>
            <a:outerShdw sx="100000" sy="100000" kx="0" ky="0" algn="bl" rotWithShape="0" blurRad="254000" dist="101600" dir="5400000">
              <a:srgbClr val="FF6A3D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41800" y="2118320"/>
            <a:ext cx="279933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ETKİ · YÜKSEK OLASILIK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41800" y="2595761"/>
            <a:ext cx="279933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Hemen önlem alın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41800" y="2967831"/>
            <a:ext cx="27993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Örn. internet altyapısının gecikmesi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822700"/>
            <a:ext cx="3124200" cy="2019300"/>
          </a:xfrm>
          <a:prstGeom prst="roundRect">
            <a:avLst>
              <a:gd name="adj" fmla="val 6289"/>
            </a:avLst>
          </a:prstGeom>
          <a:solidFill>
            <a:srgbClr val="EFEAE0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025900"/>
            <a:ext cx="292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DÜŞÜK ETKİ · DÜŞÜK OLASILIK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000" y="4290020"/>
            <a:ext cx="279933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Kabul edin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16000" y="4662091"/>
            <a:ext cx="27993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Örn. küçük ofis malzemesi eksikleri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38600" y="3822700"/>
            <a:ext cx="3124200" cy="2019300"/>
          </a:xfrm>
          <a:prstGeom prst="roundRect">
            <a:avLst>
              <a:gd name="adj" fmla="val 6289"/>
            </a:avLst>
          </a:prstGeom>
          <a:solidFill>
            <a:srgbClr val="E6EEFF"/>
          </a:solidFill>
          <a:ln/>
        </p:spPr>
      </p:sp>
      <p:sp>
        <p:nvSpPr>
          <p:cNvPr id="18" name="Text 16"/>
          <p:cNvSpPr/>
          <p:nvPr/>
        </p:nvSpPr>
        <p:spPr>
          <a:xfrm>
            <a:off x="4241800" y="4025900"/>
            <a:ext cx="279933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45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DÜŞÜK ETKİ · YÜKSEK OLASILIK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1800" y="4503341"/>
            <a:ext cx="279933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Yakından izleyin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41800" y="4875411"/>
            <a:ext cx="279933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Örn. mobilya tesliminde birkaç gün sapma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67600" y="1915120"/>
            <a:ext cx="3911600" cy="3926880"/>
          </a:xfrm>
          <a:prstGeom prst="roundRect">
            <a:avLst>
              <a:gd name="adj" fmla="val 3896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pic>
        <p:nvPicPr>
          <p:cNvPr id="22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1600" y="3040360"/>
            <a:ext cx="355600" cy="355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21600" y="3522960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ZEKAYA SORUN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721600" y="3863280"/>
            <a:ext cx="350570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proje için olası on riski olasılık ve etkiye göre sınıflandır, her biri için bir önlem öner.”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38 / 62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05 · TAKİP VE DEĞERLENDİRME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 durum raporu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1053405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150" y="201543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2457C5"/>
          </a:solidFill>
          <a:ln/>
        </p:spPr>
      </p:sp>
      <p:sp>
        <p:nvSpPr>
          <p:cNvPr id="7" name="Text 5"/>
          <p:cNvSpPr/>
          <p:nvPr/>
        </p:nvSpPr>
        <p:spPr>
          <a:xfrm>
            <a:off x="1149350" y="1972270"/>
            <a:ext cx="7078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Yolunda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51930" y="1918295"/>
            <a:ext cx="870148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2105" y="201543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10" name="Text 8"/>
          <p:cNvSpPr/>
          <p:nvPr/>
        </p:nvSpPr>
        <p:spPr>
          <a:xfrm>
            <a:off x="2285305" y="1972270"/>
            <a:ext cx="4879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04629" y="1918295"/>
            <a:ext cx="1276846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4804" y="201543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</p:spPr>
      </p:sp>
      <p:sp>
        <p:nvSpPr>
          <p:cNvPr id="13" name="Text 11"/>
          <p:cNvSpPr/>
          <p:nvPr/>
        </p:nvSpPr>
        <p:spPr>
          <a:xfrm>
            <a:off x="3238004" y="1972270"/>
            <a:ext cx="9402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Gecikmede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2347516"/>
            <a:ext cx="3308350" cy="1691680"/>
          </a:xfrm>
          <a:prstGeom prst="roundRect">
            <a:avLst>
              <a:gd name="adj" fmla="val 882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2553891"/>
            <a:ext cx="304800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22350" y="2934891"/>
            <a:ext cx="298246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Tamamlananlar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22350" y="329555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hafta biten işler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32275" y="2347516"/>
            <a:ext cx="3308350" cy="1691680"/>
          </a:xfrm>
          <a:prstGeom prst="roundRect">
            <a:avLst>
              <a:gd name="adj" fmla="val 882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8650" y="2553891"/>
            <a:ext cx="304800" cy="3048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38650" y="2934891"/>
            <a:ext cx="298246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Gelecek hafta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438650" y="329555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Sıradaki işler ve sorumluları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5975" y="4147145"/>
            <a:ext cx="3308350" cy="1691680"/>
          </a:xfrm>
          <a:prstGeom prst="roundRect">
            <a:avLst>
              <a:gd name="adj" fmla="val 882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2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2350" y="4353520"/>
            <a:ext cx="304800" cy="3048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22350" y="4734520"/>
            <a:ext cx="298246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 ve engeller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022350" y="5095180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Takılan ne var, neden?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232275" y="4147145"/>
            <a:ext cx="3308350" cy="1691680"/>
          </a:xfrm>
          <a:prstGeom prst="roundRect">
            <a:avLst>
              <a:gd name="adj" fmla="val 882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27" name="Image 3" descr="Ke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38650" y="4353520"/>
            <a:ext cx="304800" cy="3048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438650" y="4734520"/>
            <a:ext cx="298246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 gerekenler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4438650" y="5095180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Yönetici onayı bekleyen konular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848600" y="1915120"/>
            <a:ext cx="3530600" cy="3926880"/>
          </a:xfrm>
          <a:prstGeom prst="roundRect">
            <a:avLst>
              <a:gd name="adj" fmla="val 4317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102600" y="2997200"/>
            <a:ext cx="3113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ZEKAYA SORUN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102600" y="3337520"/>
            <a:ext cx="3113278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“Görev listesine göre bu haftanın durum raporunu hazırla. Her işi Yolunda, Riskli ya da Gecikmede diye işaretle; karar gereken konuları en başa yaz.”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39 / 62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876399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Ofis taşınma projesi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Ekibimiz üç ay içinde yeni bir ofise taşınacak. Elimizde yalnızca bu fikir var.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359374"/>
            <a:ext cx="3380383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61654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931470"/>
            <a:ext cx="295201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Kapsam, görevler, sorumlular, takvim ve risklerden oluşan bir proje planı isteyeceğiz.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olarak indirilebilen bir görev planı ve takip kontrol listesi.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62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101600" dist="0" dir="60000">
              <a:srgbClr val="4C8DFF">
                <a:alpha val="20000"/>
              </a:srgbClr>
            </a:outerShdw>
          </a:effectLst>
        </p:spPr>
      </p:sp>
      <p:pic>
        <p:nvPicPr>
          <p:cNvPr id="3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324346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6 · 1. BÖLÜM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64211" y="819150"/>
            <a:ext cx="2587030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· Zamanlanmış görev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Başlamadan önce yapay zekaya bir iş bırakıyoruz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anlatmaya devam ederken ChatGPT bizim için kısa bir gündem özeti hazırlayacak.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359374"/>
            <a:ext cx="3380383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61654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931470"/>
            <a:ext cx="295201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Birkaç dakika sonrası için tek seferlik bir zamanlanmış görev kuracağız.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Oturumun ilerleyen bölümünde, kimse dokunmadan gelen sonucu.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62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391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06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05039"/>
            <a:ext cx="752157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Tekrarlayan İşler ve İş Akışları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219144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Tekrarlayan işleri belirlemek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89970" y="5266134"/>
            <a:ext cx="1505347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Düzenli iş akışları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77866" y="5266134"/>
            <a:ext cx="1742579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aşamalı süreçler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1666379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Periyodik raporlama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4904" y="5695355"/>
            <a:ext cx="2739231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destekli çalışma sistemi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62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06 · TEKRARLAYAN İŞLERİ BELİRLEMEK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iş devredilmeye aday?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2025650" cy="3920530"/>
          </a:xfrm>
          <a:prstGeom prst="roundRect">
            <a:avLst>
              <a:gd name="adj" fmla="val 7367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2350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" y="22262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350" y="2683470"/>
            <a:ext cx="16637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Sık mı?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350" y="3106341"/>
            <a:ext cx="166370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gün, her hafta ya da her ay yapılıyor.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41320" y="3522960"/>
            <a:ext cx="36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3406775" y="1918295"/>
            <a:ext cx="2025650" cy="3920530"/>
          </a:xfrm>
          <a:prstGeom prst="roundRect">
            <a:avLst>
              <a:gd name="adj" fmla="val 7367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3150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3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14750" y="2226270"/>
            <a:ext cx="254000" cy="254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3150" y="2683470"/>
            <a:ext cx="16637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Kurallı mı?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613150" y="3106341"/>
            <a:ext cx="166370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seferinde benzer adımlar izleniyor.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32120" y="3522960"/>
            <a:ext cx="36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17" name="Shape 13"/>
          <p:cNvSpPr/>
          <p:nvPr/>
        </p:nvSpPr>
        <p:spPr>
          <a:xfrm>
            <a:off x="5997575" y="1918295"/>
            <a:ext cx="2025650" cy="3920530"/>
          </a:xfrm>
          <a:prstGeom prst="roundRect">
            <a:avLst>
              <a:gd name="adj" fmla="val 7367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03950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9" name="Image 2" descr="Activit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5550" y="2226270"/>
            <a:ext cx="254000" cy="254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03950" y="2683470"/>
            <a:ext cx="166370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 alıyor mu?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203950" y="3427611"/>
            <a:ext cx="166370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seferinde ciddi emek gerektiriyor.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122920" y="3522960"/>
            <a:ext cx="36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23" name="Shape 18"/>
          <p:cNvSpPr/>
          <p:nvPr/>
        </p:nvSpPr>
        <p:spPr>
          <a:xfrm>
            <a:off x="8585200" y="1915120"/>
            <a:ext cx="2794000" cy="3926880"/>
          </a:xfrm>
          <a:prstGeom prst="roundRect">
            <a:avLst>
              <a:gd name="adj" fmla="val 5455"/>
            </a:avLst>
          </a:prstGeom>
          <a:solidFill>
            <a:srgbClr val="FF6A3D"/>
          </a:solidFill>
          <a:ln/>
          <a:effectLst>
            <a:outerShdw sx="100000" sy="100000" kx="0" ky="0" algn="bl" rotWithShape="0" blurRad="304800" dist="127000" dir="5400000">
              <a:srgbClr val="FF6A3D">
                <a:alpha val="30000"/>
              </a:srgbClr>
            </a:outerShdw>
          </a:effectLst>
        </p:spPr>
      </p:sp>
      <p:pic>
        <p:nvPicPr>
          <p:cNvPr id="24" name="Image 3" descr="Light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39200" y="2968030"/>
            <a:ext cx="406400" cy="406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39200" y="3476030"/>
            <a:ext cx="235458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Devretmeye aday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8839200" y="4220170"/>
            <a:ext cx="23545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kez tanımlayın, sonra yapay zekaya devredin.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43 / 62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06 · DÜZENLİ İŞ AKIŞLARI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ofiste tekrarlanan işler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3414117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2350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" y="22262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6550" y="2124670"/>
            <a:ext cx="248968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 tutanakları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6550" y="2464991"/>
            <a:ext cx="1778198" cy="289520"/>
          </a:xfrm>
          <a:custGeom>
            <a:avLst/>
            <a:gdLst/>
            <a:ahLst/>
            <a:cxnLst/>
            <a:rect l="l" t="t" r="r" b="b"/>
            <a:pathLst>
              <a:path w="1778198" h="289520">
                <a:moveTo>
                  <a:pt x="144760" y="0"/>
                </a:moveTo>
                <a:lnTo>
                  <a:pt x="1633438" y="0"/>
                </a:lnTo>
                <a:arcTo hR="144760" wR="144760" stAng="16200000" swAng="5400000"/>
                <a:lnTo>
                  <a:pt x="1778198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toplantıdan sonra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8842" y="191829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5217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2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6817" y="2226270"/>
            <a:ext cx="254000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9417" y="2124670"/>
            <a:ext cx="248978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 durum raporu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79417" y="2464991"/>
            <a:ext cx="897830" cy="289520"/>
          </a:xfrm>
          <a:custGeom>
            <a:avLst/>
            <a:gdLst/>
            <a:ahLst/>
            <a:cxnLst/>
            <a:rect l="l" t="t" r="r" b="b"/>
            <a:pathLst>
              <a:path w="897830" h="289520">
                <a:moveTo>
                  <a:pt x="144760" y="0"/>
                </a:moveTo>
                <a:lnTo>
                  <a:pt x="753070" y="0"/>
                </a:lnTo>
                <a:arcTo hR="144760" wR="144760" stAng="16200000" swAng="5400000"/>
                <a:lnTo>
                  <a:pt x="897830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cuma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61809" y="191829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68184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7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9784" y="2226270"/>
            <a:ext cx="254000" cy="254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2384" y="2124670"/>
            <a:ext cx="248978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Standart e-posta yanıtları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752384" y="2729111"/>
            <a:ext cx="778966" cy="289520"/>
          </a:xfrm>
          <a:custGeom>
            <a:avLst/>
            <a:gdLst/>
            <a:ahLst/>
            <a:cxnLst/>
            <a:rect l="l" t="t" r="r" b="b"/>
            <a:pathLst>
              <a:path w="778966" h="289520">
                <a:moveTo>
                  <a:pt x="144760" y="0"/>
                </a:moveTo>
                <a:lnTo>
                  <a:pt x="634206" y="0"/>
                </a:lnTo>
                <a:arcTo hR="144760" wR="144760" stAng="16200000" swAng="5400000"/>
                <a:lnTo>
                  <a:pt x="778966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gün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5975" y="3957935"/>
            <a:ext cx="3414117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22350" y="416431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2" name="Image 3" descr="Databa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23950" y="4265910"/>
            <a:ext cx="254000" cy="254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6550" y="4164310"/>
            <a:ext cx="248968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veri özetleri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06550" y="4504630"/>
            <a:ext cx="1075630" cy="289520"/>
          </a:xfrm>
          <a:custGeom>
            <a:avLst/>
            <a:gdLst/>
            <a:ahLst/>
            <a:cxnLst/>
            <a:rect l="l" t="t" r="r" b="b"/>
            <a:pathLst>
              <a:path w="1075630" h="289520">
                <a:moveTo>
                  <a:pt x="144760" y="0"/>
                </a:moveTo>
                <a:lnTo>
                  <a:pt x="930870" y="0"/>
                </a:lnTo>
                <a:arcTo hR="144760" wR="144760" stAng="16200000" swAng="5400000"/>
                <a:lnTo>
                  <a:pt x="1075630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ay sonu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88842" y="395793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5217" y="416431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7" name="Image 4" descr="PaperPla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96817" y="4265910"/>
            <a:ext cx="254000" cy="2540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9417" y="4164310"/>
            <a:ext cx="248978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Duyuru ve bilgilendirme metinleri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179417" y="4768751"/>
            <a:ext cx="1349673" cy="289520"/>
          </a:xfrm>
          <a:custGeom>
            <a:avLst/>
            <a:gdLst/>
            <a:ahLst/>
            <a:cxnLst/>
            <a:rect l="l" t="t" r="r" b="b"/>
            <a:pathLst>
              <a:path w="1349673" h="289520">
                <a:moveTo>
                  <a:pt x="144760" y="0"/>
                </a:moveTo>
                <a:lnTo>
                  <a:pt x="1204913" y="0"/>
                </a:lnTo>
                <a:arcTo hR="144760" wR="144760" stAng="16200000" swAng="5400000"/>
                <a:lnTo>
                  <a:pt x="1349673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Ayda birkaç kez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961809" y="3957935"/>
            <a:ext cx="3414216" cy="1880890"/>
          </a:xfrm>
          <a:prstGeom prst="roundRect">
            <a:avLst>
              <a:gd name="adj" fmla="val 7934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68184" y="416431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32" name="Image 5" descr="Lightbulb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69784" y="4265910"/>
            <a:ext cx="254000" cy="2540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52384" y="4164310"/>
            <a:ext cx="248978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 taslakları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752384" y="4504630"/>
            <a:ext cx="1397397" cy="289520"/>
          </a:xfrm>
          <a:custGeom>
            <a:avLst/>
            <a:gdLst/>
            <a:ahLst/>
            <a:cxnLst/>
            <a:rect l="l" t="t" r="r" b="b"/>
            <a:pathLst>
              <a:path w="1397397" h="289520">
                <a:moveTo>
                  <a:pt x="144760" y="0"/>
                </a:moveTo>
                <a:lnTo>
                  <a:pt x="1252637" y="0"/>
                </a:lnTo>
                <a:arcTo hR="144760" wR="144760" stAng="16200000" swAng="5400000"/>
                <a:lnTo>
                  <a:pt x="139739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8A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yeni projede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44 / 62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06 · KALICI ASİSTAN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kez tanımla, hep kullan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2257425" cy="1700411"/>
          </a:xfrm>
          <a:prstGeom prst="roundRect">
            <a:avLst>
              <a:gd name="adj" fmla="val 877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124670"/>
            <a:ext cx="19000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Talimat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2350" y="2522141"/>
            <a:ext cx="190001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Rol, kurallar ve üslup bir kez yazılır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47695" y="2412901"/>
            <a:ext cx="36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587750" y="1918295"/>
            <a:ext cx="2257425" cy="1700411"/>
          </a:xfrm>
          <a:prstGeom prst="roundRect">
            <a:avLst>
              <a:gd name="adj" fmla="val 877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125" y="2124670"/>
            <a:ext cx="190001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doküman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125" y="2843411"/>
            <a:ext cx="190001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Şablon, eski örnek, kurum dili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9470" y="2412901"/>
            <a:ext cx="36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359525" y="1918295"/>
            <a:ext cx="2257425" cy="1700411"/>
          </a:xfrm>
          <a:prstGeom prst="roundRect">
            <a:avLst>
              <a:gd name="adj" fmla="val 877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900" y="2124670"/>
            <a:ext cx="19000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girdi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65900" y="2522141"/>
            <a:ext cx="190001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seferinde yalnızca bunu verirsiniz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91245" y="2412901"/>
            <a:ext cx="36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9128125" y="1915120"/>
            <a:ext cx="2251075" cy="1706761"/>
          </a:xfrm>
          <a:prstGeom prst="roundRect">
            <a:avLst>
              <a:gd name="adj" fmla="val 8929"/>
            </a:avLst>
          </a:prstGeom>
          <a:solidFill>
            <a:srgbClr val="FF6A3D"/>
          </a:solidFill>
          <a:ln/>
          <a:effectLst>
            <a:outerShdw sx="100000" sy="100000" kx="0" ky="0" algn="bl" rotWithShape="0" blurRad="304800" dist="127000" dir="5400000">
              <a:srgbClr val="FF6A3D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31325" y="2118320"/>
            <a:ext cx="190001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Standart çıktı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31325" y="2515791"/>
            <a:ext cx="190001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seferinde aynı kalite ve format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43892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ARAÇLARDAKİ KARŞILIĞI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856559"/>
            <a:ext cx="3420467" cy="985441"/>
          </a:xfrm>
          <a:prstGeom prst="roundRect">
            <a:avLst>
              <a:gd name="adj" fmla="val 12888"/>
            </a:avLst>
          </a:prstGeom>
          <a:solidFill>
            <a:srgbClr val="10162A"/>
          </a:solidFill>
          <a:ln/>
        </p:spPr>
      </p:sp>
      <p:pic>
        <p:nvPicPr>
          <p:cNvPr id="22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5196880"/>
            <a:ext cx="304800" cy="304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47800" y="5034359"/>
            <a:ext cx="2659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47800" y="5273080"/>
            <a:ext cx="26597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4385667" y="4856559"/>
            <a:ext cx="3420566" cy="985441"/>
          </a:xfrm>
          <a:prstGeom prst="roundRect">
            <a:avLst>
              <a:gd name="adj" fmla="val 12888"/>
            </a:avLst>
          </a:prstGeom>
          <a:solidFill>
            <a:srgbClr val="10162A"/>
          </a:solidFill>
          <a:ln/>
        </p:spPr>
      </p:sp>
      <p:pic>
        <p:nvPicPr>
          <p:cNvPr id="26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88867" y="5196880"/>
            <a:ext cx="304800" cy="3048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20667" y="5034359"/>
            <a:ext cx="2659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020667" y="5273080"/>
            <a:ext cx="265983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ve Proje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7958634" y="4856559"/>
            <a:ext cx="3420566" cy="985441"/>
          </a:xfrm>
          <a:prstGeom prst="roundRect">
            <a:avLst>
              <a:gd name="adj" fmla="val 12888"/>
            </a:avLst>
          </a:prstGeom>
          <a:solidFill>
            <a:srgbClr val="10162A"/>
          </a:solidFill>
          <a:ln/>
        </p:spPr>
      </p:sp>
      <p:pic>
        <p:nvPicPr>
          <p:cNvPr id="30" name="Image 2" descr="Boo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1834" y="5196880"/>
            <a:ext cx="304800" cy="3048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593634" y="5034359"/>
            <a:ext cx="2659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593634" y="5273080"/>
            <a:ext cx="265983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45 / 62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06 · ÇOK AŞAMALI SÜREÇLER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aylık satış raporu akışı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24645"/>
            <a:ext cx="1413867" cy="1271191"/>
          </a:xfrm>
          <a:prstGeom prst="roundRect">
            <a:avLst>
              <a:gd name="adj" fmla="val 974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6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45109" y="2080220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5350" y="2512020"/>
            <a:ext cx="1255117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 yüklenir</a:t>
            </a:r>
            <a:endParaRPr lang="en-US" sz="16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09217" y="2484041"/>
            <a:ext cx="254000" cy="152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42592" y="1924645"/>
            <a:ext cx="1413966" cy="1271191"/>
          </a:xfrm>
          <a:prstGeom prst="roundRect">
            <a:avLst>
              <a:gd name="adj" fmla="val 974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0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71726" y="2080220"/>
            <a:ext cx="355600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21967" y="2512020"/>
            <a:ext cx="125521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temizlenir</a:t>
            </a:r>
            <a:endParaRPr lang="en-US" sz="1600" dirty="0"/>
          </a:p>
        </p:txBody>
      </p:sp>
      <p:pic>
        <p:nvPicPr>
          <p:cNvPr id="12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35934" y="2484041"/>
            <a:ext cx="254000" cy="1524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469309" y="2056705"/>
            <a:ext cx="1413867" cy="1007070"/>
          </a:xfrm>
          <a:prstGeom prst="roundRect">
            <a:avLst>
              <a:gd name="adj" fmla="val 12296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4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98442" y="2212280"/>
            <a:ext cx="355600" cy="355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91990" y="2644080"/>
            <a:ext cx="136850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edilir</a:t>
            </a:r>
            <a:endParaRPr lang="en-US" sz="1600" dirty="0"/>
          </a:p>
        </p:txBody>
      </p:sp>
      <p:pic>
        <p:nvPicPr>
          <p:cNvPr id="16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62551" y="2484041"/>
            <a:ext cx="254000" cy="1524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295926" y="1924645"/>
            <a:ext cx="1413966" cy="1271191"/>
          </a:xfrm>
          <a:prstGeom prst="roundRect">
            <a:avLst>
              <a:gd name="adj" fmla="val 974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18" name="Image 6" descr="Boo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825059" y="2080220"/>
            <a:ext cx="355600" cy="355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75301" y="2512020"/>
            <a:ext cx="125521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 yazılır</a:t>
            </a:r>
            <a:endParaRPr lang="en-US" sz="1600" dirty="0"/>
          </a:p>
        </p:txBody>
      </p:sp>
      <p:pic>
        <p:nvPicPr>
          <p:cNvPr id="20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89267" y="2484041"/>
            <a:ext cx="254000" cy="15240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8125817" y="1921470"/>
            <a:ext cx="1420316" cy="1277541"/>
          </a:xfrm>
          <a:prstGeom prst="roundRect">
            <a:avLst>
              <a:gd name="adj" fmla="val 9444"/>
            </a:avLst>
          </a:prstGeom>
          <a:solidFill>
            <a:srgbClr val="E6EEFF"/>
          </a:solidFill>
          <a:ln w="12700">
            <a:solidFill>
              <a:srgbClr val="2457C5"/>
            </a:solidFill>
            <a:prstDash val="solid"/>
          </a:ln>
        </p:spPr>
      </p:sp>
      <p:pic>
        <p:nvPicPr>
          <p:cNvPr id="22" name="Image 8" descr="Verified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658126" y="2080220"/>
            <a:ext cx="355600" cy="355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8208367" y="2512020"/>
            <a:ext cx="125521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kontrol eder</a:t>
            </a:r>
            <a:endParaRPr lang="en-US" sz="1600" dirty="0"/>
          </a:p>
        </p:txBody>
      </p:sp>
      <p:pic>
        <p:nvPicPr>
          <p:cNvPr id="24" name="Image 9" descr="arrow-right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628684" y="2484041"/>
            <a:ext cx="254000" cy="152400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9962059" y="2056705"/>
            <a:ext cx="1413966" cy="1007070"/>
          </a:xfrm>
          <a:prstGeom prst="roundRect">
            <a:avLst>
              <a:gd name="adj" fmla="val 12296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</p:spPr>
      </p:sp>
      <p:pic>
        <p:nvPicPr>
          <p:cNvPr id="26" name="Image 10" descr="PaperPlane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491192" y="2212280"/>
            <a:ext cx="355600" cy="35560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10133558" y="2644080"/>
            <a:ext cx="107096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Paylaşılır</a:t>
            </a:r>
            <a:endParaRPr lang="en-US" sz="1600" dirty="0"/>
          </a:p>
        </p:txBody>
      </p:sp>
      <p:sp>
        <p:nvSpPr>
          <p:cNvPr id="28" name="Shape 15"/>
          <p:cNvSpPr/>
          <p:nvPr/>
        </p:nvSpPr>
        <p:spPr>
          <a:xfrm>
            <a:off x="815975" y="3462536"/>
            <a:ext cx="5200650" cy="2376289"/>
          </a:xfrm>
          <a:prstGeom prst="roundRect">
            <a:avLst>
              <a:gd name="adj" fmla="val 628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9" name="Text 16"/>
          <p:cNvSpPr/>
          <p:nvPr/>
        </p:nvSpPr>
        <p:spPr>
          <a:xfrm>
            <a:off x="1073150" y="3668911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DÜZENLİ HALE GETİRİN</a:t>
            </a:r>
            <a:endParaRPr lang="en-US" sz="1200" dirty="0"/>
          </a:p>
        </p:txBody>
      </p:sp>
      <p:sp>
        <p:nvSpPr>
          <p:cNvPr id="30" name="Text 17"/>
          <p:cNvSpPr/>
          <p:nvPr/>
        </p:nvSpPr>
        <p:spPr>
          <a:xfrm>
            <a:off x="1073150" y="3958431"/>
            <a:ext cx="482688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Adımları bir Gem’in ya da projenin talimatına yazın; her ay yalnızca yeni dosyayı yükleyin.</a:t>
            </a:r>
            <a:endParaRPr lang="en-US" sz="1600" dirty="0"/>
          </a:p>
        </p:txBody>
      </p:sp>
      <p:sp>
        <p:nvSpPr>
          <p:cNvPr id="31" name="Shape 18"/>
          <p:cNvSpPr/>
          <p:nvPr/>
        </p:nvSpPr>
        <p:spPr>
          <a:xfrm>
            <a:off x="6175375" y="3462536"/>
            <a:ext cx="5200650" cy="2376289"/>
          </a:xfrm>
          <a:prstGeom prst="roundRect">
            <a:avLst>
              <a:gd name="adj" fmla="val 628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32" name="Text 19"/>
          <p:cNvSpPr/>
          <p:nvPr/>
        </p:nvSpPr>
        <p:spPr>
          <a:xfrm>
            <a:off x="6432550" y="3668911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PERİYODİK HALE GETİRİN</a:t>
            </a:r>
            <a:endParaRPr lang="en-US" sz="1200" dirty="0"/>
          </a:p>
        </p:txBody>
      </p:sp>
      <p:sp>
        <p:nvSpPr>
          <p:cNvPr id="33" name="Text 20"/>
          <p:cNvSpPr/>
          <p:nvPr/>
        </p:nvSpPr>
        <p:spPr>
          <a:xfrm>
            <a:off x="6432550" y="3958431"/>
            <a:ext cx="482688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Hatırlatmayı zamanlanmış göreve bağlayın: “Her ayın ilk iş günü raporu hazırlama zamanı.”</a:t>
            </a:r>
            <a:endParaRPr lang="en-US" sz="1600" dirty="0"/>
          </a:p>
        </p:txBody>
      </p:sp>
      <p:sp>
        <p:nvSpPr>
          <p:cNvPr id="3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5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46 / 62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1359198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· Gem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 Notu Asistanı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toplantıdan sonra dağınık notlar kalıyor; kimin neyi üstlendiği belirsiz.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359374"/>
            <a:ext cx="3380383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61654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931470"/>
            <a:ext cx="295201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kez talimat yazarak kalıcı bir “Toplantı Notu Asistanı” Gem’i kuracağız.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notun saniyeler içinde tutanağa ve “kim, ne, ne zaman” listesine dönüşmesi.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62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391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07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05039"/>
            <a:ext cx="752157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Çalışma ve Ekip Yönetimi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254724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çalışma alanları ve projeler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45768" y="5266134"/>
            <a:ext cx="2361109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 çalışmasında yapay zeka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89427" y="5266134"/>
            <a:ext cx="2039144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bilgi ve dokümanlar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188664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ve aksiyon takibi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5170" y="5695355"/>
            <a:ext cx="1963241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 ve proje desteği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62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07 · ORTAK ÇALIŞMA ALANLARI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Proje: ekibin ortak hafızası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3041650" cy="783530"/>
          </a:xfrm>
          <a:prstGeom prst="roundRect">
            <a:avLst>
              <a:gd name="adj" fmla="val 12562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550" y="2048470"/>
            <a:ext cx="28124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Talimatlar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1550" y="235833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çalışacağız?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2809776"/>
            <a:ext cx="3041650" cy="783530"/>
          </a:xfrm>
          <a:prstGeom prst="roundRect">
            <a:avLst>
              <a:gd name="adj" fmla="val 12562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" y="2939951"/>
            <a:ext cx="28124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Dokümanlar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1550" y="3249811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Neye dayanacağız?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701256"/>
            <a:ext cx="3041650" cy="783530"/>
          </a:xfrm>
          <a:prstGeom prst="roundRect">
            <a:avLst>
              <a:gd name="adj" fmla="val 12562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1550" y="3831431"/>
            <a:ext cx="28124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Sohbetler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1550" y="4141291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Neler konuşuldu?</a:t>
            </a:r>
            <a:endParaRPr lang="en-US" sz="1200" dirty="0"/>
          </a:p>
        </p:txBody>
      </p:sp>
      <p:pic>
        <p:nvPicPr>
          <p:cNvPr id="14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3200" y="3112591"/>
            <a:ext cx="355600" cy="177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21200" y="1915120"/>
            <a:ext cx="2286000" cy="2572841"/>
          </a:xfrm>
          <a:prstGeom prst="roundRect">
            <a:avLst>
              <a:gd name="adj" fmla="val 6667"/>
            </a:avLst>
          </a:prstGeom>
          <a:solidFill>
            <a:srgbClr val="10162A"/>
          </a:solidFill>
          <a:ln/>
          <a:effectLst>
            <a:outerShdw sx="100000" sy="100000" kx="0" ky="0" algn="bl" rotWithShape="0" blurRad="76200" dist="0" dir="60000">
              <a:srgbClr val="FF6A3D">
                <a:alpha val="16000"/>
              </a:srgbClr>
            </a:outerShdw>
          </a:effectLst>
        </p:spPr>
      </p:sp>
      <p:pic>
        <p:nvPicPr>
          <p:cNvPr id="16" name="Image 1" descr="Ho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35600" y="2603996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97011" y="3162796"/>
            <a:ext cx="734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48530" y="3477716"/>
            <a:ext cx="183134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hafıza</a:t>
            </a:r>
            <a:endParaRPr lang="en-US" sz="2200" dirty="0"/>
          </a:p>
        </p:txBody>
      </p:sp>
      <p:pic>
        <p:nvPicPr>
          <p:cNvPr id="1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59600" y="3112591"/>
            <a:ext cx="355600" cy="1778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470775" y="1918295"/>
            <a:ext cx="3905250" cy="783530"/>
          </a:xfrm>
          <a:prstGeom prst="roundRect">
            <a:avLst>
              <a:gd name="adj" fmla="val 12562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21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26350" y="2183011"/>
            <a:ext cx="254000" cy="254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81950" y="2048470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çalışan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981950" y="2287191"/>
            <a:ext cx="33356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“Masraf formu nereye gidiyor?”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7470775" y="2809776"/>
            <a:ext cx="3905250" cy="783530"/>
          </a:xfrm>
          <a:prstGeom prst="roundRect">
            <a:avLst>
              <a:gd name="adj" fmla="val 12562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25" name="Image 4" descr="User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26350" y="3074491"/>
            <a:ext cx="254000" cy="2540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81950" y="2939951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 lideri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981950" y="3178671"/>
            <a:ext cx="33356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“Geçen ayki kararlar neydi?”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7470775" y="3701256"/>
            <a:ext cx="3905250" cy="783530"/>
          </a:xfrm>
          <a:prstGeom prst="roundRect">
            <a:avLst>
              <a:gd name="adj" fmla="val 12562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pic>
        <p:nvPicPr>
          <p:cNvPr id="29" name="Image 5" descr="User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26350" y="3965972"/>
            <a:ext cx="254000" cy="2540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981950" y="3831431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üyesi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7981950" y="4070152"/>
            <a:ext cx="33356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“Son sürüm hangisi?”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12800" y="5180409"/>
            <a:ext cx="24150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ARAÇLARDAKİ KARŞILIĞI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231059" y="5126434"/>
            <a:ext cx="2377579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ve ChatGPT · Projeler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691188" y="5126434"/>
            <a:ext cx="3266877" cy="32127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· Paylaşılan Gem’ler, NotebookLM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12800" y="5527080"/>
            <a:ext cx="3599458" cy="314920"/>
          </a:xfrm>
          <a:prstGeom prst="roundRect">
            <a:avLst>
              <a:gd name="adj" fmla="val 50000"/>
            </a:avLst>
          </a:pr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 paylaşımı çoğunlukla kurumsal planlarda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49 / 62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07 · TOPLANTI VE EKİP DESTEĞİ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Toplantının öncesi, sırası, sonrası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3420467" cy="3926880"/>
          </a:xfrm>
          <a:prstGeom prst="roundRect">
            <a:avLst>
              <a:gd name="adj" fmla="val 445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1915120"/>
            <a:ext cx="3420467" cy="3926880"/>
          </a:xfrm>
          <a:custGeom>
            <a:avLst/>
            <a:gdLst/>
            <a:ahLst/>
            <a:cxnLst/>
            <a:rect l="l" t="t" r="r" b="b"/>
            <a:pathLst>
              <a:path w="3420467" h="3926880">
                <a:moveTo>
                  <a:pt x="152400" y="0"/>
                </a:moveTo>
                <a:lnTo>
                  <a:pt x="3268067" y="0"/>
                </a:lnTo>
                <a:arcTo hR="152400" wR="152400" stAng="16200000" swAng="5400000"/>
                <a:lnTo>
                  <a:pt x="3420467" y="3774480"/>
                </a:lnTo>
                <a:arcTo hR="152400" wR="152400" stAng="0" swAng="5400000"/>
                <a:lnTo>
                  <a:pt x="152400" y="392688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  <a:moveTo>
                  <a:pt x="152400" y="50800"/>
                </a:moveTo>
                <a:arcTo hR="101600" wR="146050" stAng="16200000" swAng="-5400000"/>
                <a:lnTo>
                  <a:pt x="6350" y="3774480"/>
                </a:lnTo>
                <a:arcTo hR="146050" wR="146050" stAng="10800000" swAng="-5400000"/>
                <a:lnTo>
                  <a:pt x="3268067" y="3920530"/>
                </a:lnTo>
                <a:arcTo hR="146050" wR="146050" stAng="5400000" swAng="-5400000"/>
                <a:lnTo>
                  <a:pt x="3414117" y="152400"/>
                </a:lnTo>
                <a:arcTo hR="101600" wR="146050" stAng="0" swAng="-5400000"/>
                <a:close/>
              </a:path>
            </a:pathLst>
          </a:custGeom>
          <a:solidFill>
            <a:srgbClr val="E4DED1"/>
          </a:solidFill>
          <a:ln/>
        </p:spPr>
      </p:sp>
      <p:sp>
        <p:nvSpPr>
          <p:cNvPr id="7" name="Shape 5"/>
          <p:cNvSpPr/>
          <p:nvPr/>
        </p:nvSpPr>
        <p:spPr>
          <a:xfrm>
            <a:off x="1073150" y="221992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8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321520"/>
            <a:ext cx="254000" cy="254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3150" y="2778720"/>
            <a:ext cx="298676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Öncesi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24458" y="3201591"/>
            <a:ext cx="292859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Gündem taslağı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Önceki toplantının özeti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İlgili dokümanların özeti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5667" y="1915120"/>
            <a:ext cx="3420566" cy="3926880"/>
          </a:xfrm>
          <a:prstGeom prst="roundRect">
            <a:avLst>
              <a:gd name="adj" fmla="val 445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5667" y="1915120"/>
            <a:ext cx="3420566" cy="3926880"/>
          </a:xfrm>
          <a:custGeom>
            <a:avLst/>
            <a:gdLst/>
            <a:ahLst/>
            <a:cxnLst/>
            <a:rect l="l" t="t" r="r" b="b"/>
            <a:pathLst>
              <a:path w="3420566" h="3926880">
                <a:moveTo>
                  <a:pt x="152400" y="0"/>
                </a:moveTo>
                <a:lnTo>
                  <a:pt x="3268166" y="0"/>
                </a:lnTo>
                <a:arcTo hR="152400" wR="152400" stAng="16200000" swAng="5400000"/>
                <a:lnTo>
                  <a:pt x="3420566" y="3774480"/>
                </a:lnTo>
                <a:arcTo hR="152400" wR="152400" stAng="0" swAng="5400000"/>
                <a:lnTo>
                  <a:pt x="152400" y="392688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  <a:moveTo>
                  <a:pt x="152400" y="50800"/>
                </a:moveTo>
                <a:arcTo hR="101600" wR="146050" stAng="16200000" swAng="-5400000"/>
                <a:lnTo>
                  <a:pt x="6350" y="3774480"/>
                </a:lnTo>
                <a:arcTo hR="146050" wR="146050" stAng="10800000" swAng="-5400000"/>
                <a:lnTo>
                  <a:pt x="3268166" y="3920530"/>
                </a:lnTo>
                <a:arcTo hR="146050" wR="146050" stAng="5400000" swAng="-5400000"/>
                <a:lnTo>
                  <a:pt x="3414216" y="152400"/>
                </a:lnTo>
                <a:arcTo hR="101600" wR="146050" stAng="0" swAng="-5400000"/>
                <a:close/>
              </a:path>
            </a:pathLst>
          </a:custGeom>
          <a:solidFill>
            <a:srgbClr val="E4DED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6017" y="221992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4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47617" y="2321520"/>
            <a:ext cx="254000" cy="254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6017" y="2778720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Sırası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97325" y="3201591"/>
            <a:ext cx="292869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Notların özetlenmesi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Fikirlerin gruplanması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soruların listesi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58634" y="1915120"/>
            <a:ext cx="3420566" cy="3926880"/>
          </a:xfrm>
          <a:prstGeom prst="roundRect">
            <a:avLst>
              <a:gd name="adj" fmla="val 4455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958634" y="1915120"/>
            <a:ext cx="3420566" cy="3926880"/>
          </a:xfrm>
          <a:custGeom>
            <a:avLst/>
            <a:gdLst/>
            <a:ahLst/>
            <a:cxnLst/>
            <a:rect l="l" t="t" r="r" b="b"/>
            <a:pathLst>
              <a:path w="3420566" h="3926880">
                <a:moveTo>
                  <a:pt x="152400" y="0"/>
                </a:moveTo>
                <a:lnTo>
                  <a:pt x="3268166" y="0"/>
                </a:lnTo>
                <a:arcTo hR="152400" wR="152400" stAng="16200000" swAng="5400000"/>
                <a:lnTo>
                  <a:pt x="3420566" y="3774480"/>
                </a:lnTo>
                <a:arcTo hR="152400" wR="152400" stAng="0" swAng="5400000"/>
                <a:lnTo>
                  <a:pt x="152400" y="392688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  <a:moveTo>
                  <a:pt x="152400" y="50800"/>
                </a:moveTo>
                <a:arcTo hR="101600" wR="146050" stAng="16200000" swAng="-5400000"/>
                <a:lnTo>
                  <a:pt x="6350" y="3774480"/>
                </a:lnTo>
                <a:arcTo hR="146050" wR="146050" stAng="10800000" swAng="-5400000"/>
                <a:lnTo>
                  <a:pt x="3268166" y="3920530"/>
                </a:lnTo>
                <a:arcTo hR="146050" wR="146050" stAng="5400000" swAng="-5400000"/>
                <a:lnTo>
                  <a:pt x="3414216" y="152400"/>
                </a:lnTo>
                <a:arcTo hR="101600" wR="146050" stAng="0" swAng="-5400000"/>
                <a:close/>
              </a:path>
            </a:pathLst>
          </a:custGeom>
          <a:solidFill>
            <a:srgbClr val="10162A"/>
          </a:solidFill>
          <a:ln/>
        </p:spPr>
      </p:sp>
      <p:sp>
        <p:nvSpPr>
          <p:cNvPr id="19" name="Shape 15"/>
          <p:cNvSpPr/>
          <p:nvPr/>
        </p:nvSpPr>
        <p:spPr>
          <a:xfrm>
            <a:off x="8218984" y="221992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20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0584" y="2321520"/>
            <a:ext cx="254000" cy="254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18984" y="2778720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Sonrası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270292" y="3201591"/>
            <a:ext cx="292869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 tutanağı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Kim, ne, ne zaman listesi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 e-postası taslağı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50 / 62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1579463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Projeler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 bilgi merkezi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çalışanlar aynı soruları tekrar tekrar soruyor: izin, masraf, toplantı odası…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359374"/>
            <a:ext cx="3380383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61654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931470"/>
            <a:ext cx="295201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Kurgusal bir “Yeni Çalışan El Kitabı”nı bir Claude projesine yükleyip sorular soracağız.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Dokümana dayanan yanıtlar ve bu bilgi merkezinin ekiple nasıl paylaşılacağı.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62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391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08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05039"/>
            <a:ext cx="752157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Zamanlanmış Görevler ve Proaktif Çalışma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236944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Zamanlanmış görev oluşturma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67968" y="5266134"/>
            <a:ext cx="2437110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Düzenli araştırma ve raporlama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87628" y="5266134"/>
            <a:ext cx="1302246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Periyodik takip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2326878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Hatırlatma ve görev sistemleri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25403" y="5695355"/>
            <a:ext cx="196284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Proaktif çalışma asistanı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62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08 · PROAKTİF ASİSTAN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sormadan çalışan asistan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800" y="19151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BUGÜNE KADAR · SİZ SORARSINIZ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" y="2204641"/>
            <a:ext cx="3183434" cy="609600"/>
          </a:xfrm>
          <a:prstGeom prst="roundRect">
            <a:avLst>
              <a:gd name="adj" fmla="val 20833"/>
            </a:avLst>
          </a:prstGeom>
          <a:solidFill>
            <a:srgbClr val="EFEAE0"/>
          </a:solidFill>
          <a:ln/>
        </p:spPr>
      </p:sp>
      <p:pic>
        <p:nvPicPr>
          <p:cNvPr id="7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" y="2357041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7000" y="2367161"/>
            <a:ext cx="249407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sorarsınız</a:t>
            </a:r>
            <a:endParaRPr lang="en-US" sz="16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97834" y="2433241"/>
            <a:ext cx="304800" cy="152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04234" y="2204641"/>
            <a:ext cx="3183533" cy="609600"/>
          </a:xfrm>
          <a:prstGeom prst="roundRect">
            <a:avLst>
              <a:gd name="adj" fmla="val 20833"/>
            </a:avLst>
          </a:prstGeom>
          <a:solidFill>
            <a:srgbClr val="EFEAE0"/>
          </a:solidFill>
          <a:ln/>
        </p:spPr>
      </p:sp>
      <p:pic>
        <p:nvPicPr>
          <p:cNvPr id="11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82034" y="2357041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88434" y="2367161"/>
            <a:ext cx="249417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yanıtlar</a:t>
            </a:r>
            <a:endParaRPr lang="en-US" sz="1600" dirty="0"/>
          </a:p>
        </p:txBody>
      </p:sp>
      <p:pic>
        <p:nvPicPr>
          <p:cNvPr id="1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89366" y="2433241"/>
            <a:ext cx="304800" cy="1524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195766" y="2204641"/>
            <a:ext cx="3183434" cy="609600"/>
          </a:xfrm>
          <a:prstGeom prst="roundRect">
            <a:avLst>
              <a:gd name="adj" fmla="val 20833"/>
            </a:avLst>
          </a:prstGeom>
          <a:solidFill>
            <a:srgbClr val="EFEAE0"/>
          </a:solidFill>
          <a:ln/>
        </p:spPr>
      </p:sp>
      <p:pic>
        <p:nvPicPr>
          <p:cNvPr id="15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73566" y="2357041"/>
            <a:ext cx="304800" cy="304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79966" y="2367161"/>
            <a:ext cx="249407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Sohbet biter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12800" y="306824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BUNDAN SONRA · O ÇALIŞIR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812800" y="3357761"/>
            <a:ext cx="3183434" cy="609600"/>
          </a:xfrm>
          <a:prstGeom prst="roundRect">
            <a:avLst>
              <a:gd name="adj" fmla="val 20833"/>
            </a:avLst>
          </a:prstGeom>
          <a:solidFill>
            <a:srgbClr val="10162A"/>
          </a:solidFill>
          <a:ln/>
        </p:spPr>
      </p:sp>
      <p:pic>
        <p:nvPicPr>
          <p:cNvPr id="19" name="Image 5" descr="Setting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0600" y="3510161"/>
            <a:ext cx="304800" cy="3048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97000" y="3520281"/>
            <a:ext cx="249407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kez tarif edersiniz</a:t>
            </a:r>
            <a:endParaRPr lang="en-US" sz="1600" dirty="0"/>
          </a:p>
        </p:txBody>
      </p:sp>
      <p:pic>
        <p:nvPicPr>
          <p:cNvPr id="21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097834" y="3586361"/>
            <a:ext cx="304800" cy="1524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504234" y="3357761"/>
            <a:ext cx="3183533" cy="609600"/>
          </a:xfrm>
          <a:prstGeom prst="roundRect">
            <a:avLst>
              <a:gd name="adj" fmla="val 20833"/>
            </a:avLst>
          </a:prstGeom>
          <a:solidFill>
            <a:srgbClr val="10162A"/>
          </a:solidFill>
          <a:ln/>
        </p:spPr>
      </p:sp>
      <p:pic>
        <p:nvPicPr>
          <p:cNvPr id="23" name="Image 7" descr="Clo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82034" y="3510161"/>
            <a:ext cx="304800" cy="3048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88434" y="3520281"/>
            <a:ext cx="249417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Zamanı gelince çalışır</a:t>
            </a:r>
            <a:endParaRPr lang="en-US" sz="1600" dirty="0"/>
          </a:p>
        </p:txBody>
      </p:sp>
      <p:pic>
        <p:nvPicPr>
          <p:cNvPr id="25" name="Image 8" descr="arrow-right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789366" y="3586361"/>
            <a:ext cx="304800" cy="152400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8195766" y="3357761"/>
            <a:ext cx="3183434" cy="609600"/>
          </a:xfrm>
          <a:prstGeom prst="roundRect">
            <a:avLst>
              <a:gd name="adj" fmla="val 20833"/>
            </a:avLst>
          </a:prstGeom>
          <a:solidFill>
            <a:srgbClr val="FF6A3D"/>
          </a:solidFill>
          <a:ln/>
        </p:spPr>
      </p:sp>
      <p:pic>
        <p:nvPicPr>
          <p:cNvPr id="27" name="Image 9" descr="PaperPlan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373566" y="3510161"/>
            <a:ext cx="304800" cy="3048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8779966" y="3520281"/>
            <a:ext cx="249407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haber verir</a:t>
            </a:r>
            <a:endParaRPr lang="en-US" sz="1600" dirty="0"/>
          </a:p>
        </p:txBody>
      </p:sp>
      <p:sp>
        <p:nvSpPr>
          <p:cNvPr id="29" name="Text 17"/>
          <p:cNvSpPr/>
          <p:nvPr/>
        </p:nvSpPr>
        <p:spPr>
          <a:xfrm>
            <a:off x="812800" y="5492750"/>
            <a:ext cx="108833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toplantıdayken de asistanınız çalışmaya devam eder.</a:t>
            </a:r>
            <a:endParaRPr lang="en-US" sz="2200" dirty="0"/>
          </a:p>
        </p:txBody>
      </p:sp>
      <p:sp>
        <p:nvSpPr>
          <p:cNvPr id="30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53 / 62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08 · ZAMANLANMIŞ GÖREV OLUŞTURMA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tür zamanlanmış görev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3414117" cy="3920530"/>
          </a:xfrm>
          <a:prstGeom prst="roundRect">
            <a:avLst>
              <a:gd name="adj" fmla="val 437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3150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2770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3150" y="2734270"/>
            <a:ext cx="298676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seferlik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3150" y="3157141"/>
            <a:ext cx="2986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Belirlenen anda bir kez çalışır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3150" y="4423470"/>
            <a:ext cx="2899767" cy="1158180"/>
          </a:xfrm>
          <a:prstGeom prst="roundRect">
            <a:avLst>
              <a:gd name="adj" fmla="val 8772"/>
            </a:avLst>
          </a:prstGeom>
          <a:solidFill>
            <a:srgbClr val="F5F2EA"/>
          </a:solidFill>
          <a:ln/>
        </p:spPr>
        <p:txBody>
          <a:bodyPr wrap="square" lIns="122642" tIns="122642" rIns="44793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“Yarın 09:00’da sunum öncesi kontrol listemi hatırlat.”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8842" y="1918295"/>
            <a:ext cx="3414216" cy="3920530"/>
          </a:xfrm>
          <a:prstGeom prst="roundRect">
            <a:avLst>
              <a:gd name="adj" fmla="val 4371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6017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3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47617" y="2277070"/>
            <a:ext cx="254000" cy="254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6017" y="2734270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Tekrarlayan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46017" y="3157141"/>
            <a:ext cx="2986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Belirli aralıklarla çalışır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46017" y="4707930"/>
            <a:ext cx="2899866" cy="873720"/>
          </a:xfrm>
          <a:prstGeom prst="roundRect">
            <a:avLst>
              <a:gd name="adj" fmla="val 11628"/>
            </a:avLst>
          </a:prstGeom>
          <a:solidFill>
            <a:srgbClr val="F5F2EA"/>
          </a:solidFill>
          <a:ln/>
        </p:spPr>
        <p:txBody>
          <a:bodyPr wrap="square" lIns="122642" tIns="122642" rIns="4479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“Her pazartesi 08:30’da haftalık önceliklerimi listele.”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61809" y="1918295"/>
            <a:ext cx="3414216" cy="3920530"/>
          </a:xfrm>
          <a:prstGeom prst="roundRect">
            <a:avLst>
              <a:gd name="adj" fmla="val 4371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18984" y="21754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19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0584" y="2277070"/>
            <a:ext cx="254000" cy="254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18984" y="2734270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218984" y="3157141"/>
            <a:ext cx="2986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Değişiklik olunca haber verir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18984" y="4423470"/>
            <a:ext cx="2899866" cy="1158180"/>
          </a:xfrm>
          <a:prstGeom prst="roundRect">
            <a:avLst>
              <a:gd name="adj" fmla="val 8772"/>
            </a:avLst>
          </a:prstGeom>
          <a:solidFill>
            <a:srgbClr val="1E2A4A"/>
          </a:solidFill>
          <a:ln/>
        </p:spPr>
        <p:txBody>
          <a:bodyPr wrap="square" lIns="122642" tIns="122642" rIns="4479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“Sektörümüzle ilgili önemli bir gelişme olursa bana bildir.”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54 / 62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08 · PERİYODİK TAKİP VE HATIRLATMA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Yarın kurabileceğiniz altı görev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3414117" cy="1647230"/>
          </a:xfrm>
          <a:prstGeom prst="roundRect">
            <a:avLst>
              <a:gd name="adj" fmla="val 905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2350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7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" y="2226270"/>
            <a:ext cx="254000" cy="25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6550" y="2124670"/>
            <a:ext cx="248968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 plan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6550" y="2464991"/>
            <a:ext cx="1304627" cy="289520"/>
          </a:xfrm>
          <a:custGeom>
            <a:avLst/>
            <a:gdLst/>
            <a:ahLst/>
            <a:cxnLst/>
            <a:rect l="l" t="t" r="r" b="b"/>
            <a:pathLst>
              <a:path w="1304627" h="289520">
                <a:moveTo>
                  <a:pt x="144760" y="0"/>
                </a:moveTo>
                <a:lnTo>
                  <a:pt x="1159867" y="0"/>
                </a:lnTo>
                <a:arcTo hR="144760" wR="144760" stAng="16200000" swAng="5400000"/>
                <a:lnTo>
                  <a:pt x="130462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Pazartesi 08:30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8842" y="1918295"/>
            <a:ext cx="3414216" cy="1647230"/>
          </a:xfrm>
          <a:prstGeom prst="roundRect">
            <a:avLst>
              <a:gd name="adj" fmla="val 905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5217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2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6817" y="2226270"/>
            <a:ext cx="254000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9417" y="2124670"/>
            <a:ext cx="248978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 haberleri özeti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79417" y="2464991"/>
            <a:ext cx="940197" cy="289520"/>
          </a:xfrm>
          <a:custGeom>
            <a:avLst/>
            <a:gdLst/>
            <a:ahLst/>
            <a:cxnLst/>
            <a:rect l="l" t="t" r="r" b="b"/>
            <a:pathLst>
              <a:path w="940197" h="289520">
                <a:moveTo>
                  <a:pt x="144760" y="0"/>
                </a:moveTo>
                <a:lnTo>
                  <a:pt x="795437" y="0"/>
                </a:lnTo>
                <a:arcTo hR="144760" wR="144760" stAng="16200000" swAng="5400000"/>
                <a:lnTo>
                  <a:pt x="94019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sabah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61809" y="1918295"/>
            <a:ext cx="3414216" cy="1647230"/>
          </a:xfrm>
          <a:prstGeom prst="roundRect">
            <a:avLst>
              <a:gd name="adj" fmla="val 905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68184" y="212467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17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9784" y="2226270"/>
            <a:ext cx="254000" cy="254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2384" y="2124670"/>
            <a:ext cx="248978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sonu kapanış hatırlatması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752384" y="2729111"/>
            <a:ext cx="1651496" cy="289520"/>
          </a:xfrm>
          <a:custGeom>
            <a:avLst/>
            <a:gdLst/>
            <a:ahLst/>
            <a:cxnLst/>
            <a:rect l="l" t="t" r="r" b="b"/>
            <a:pathLst>
              <a:path w="1651496" h="289520">
                <a:moveTo>
                  <a:pt x="144760" y="0"/>
                </a:moveTo>
                <a:lnTo>
                  <a:pt x="1506736" y="0"/>
                </a:lnTo>
                <a:arcTo hR="144760" wR="144760" stAng="16200000" swAng="5400000"/>
                <a:lnTo>
                  <a:pt x="1651496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ayın son haftası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5975" y="3724275"/>
            <a:ext cx="3414117" cy="1647230"/>
          </a:xfrm>
          <a:prstGeom prst="roundRect">
            <a:avLst>
              <a:gd name="adj" fmla="val 905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22350" y="393065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2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23950" y="4032250"/>
            <a:ext cx="254000" cy="254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6550" y="3930650"/>
            <a:ext cx="248968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 hazırlık listesi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06550" y="4270970"/>
            <a:ext cx="1724323" cy="289520"/>
          </a:xfrm>
          <a:custGeom>
            <a:avLst/>
            <a:gdLst/>
            <a:ahLst/>
            <a:cxnLst/>
            <a:rect l="l" t="t" r="r" b="b"/>
            <a:pathLst>
              <a:path w="1724323" h="289520">
                <a:moveTo>
                  <a:pt x="144760" y="0"/>
                </a:moveTo>
                <a:lnTo>
                  <a:pt x="1579563" y="0"/>
                </a:lnTo>
                <a:arcTo hR="144760" wR="144760" stAng="16200000" swAng="5400000"/>
                <a:lnTo>
                  <a:pt x="1724323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 günü sabahı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88842" y="3724275"/>
            <a:ext cx="3414216" cy="1647230"/>
          </a:xfrm>
          <a:prstGeom prst="roundRect">
            <a:avLst>
              <a:gd name="adj" fmla="val 9059"/>
            </a:avLst>
          </a:prstGeom>
          <a:solidFill>
            <a:srgbClr val="FFFDF8"/>
          </a:solidFill>
          <a:ln w="6350">
            <a:solidFill>
              <a:srgbClr val="E4DED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5217" y="393065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27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96817" y="4032250"/>
            <a:ext cx="254000" cy="2540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9417" y="3930650"/>
            <a:ext cx="248978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Fiyat ve rakip takibi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179417" y="4270970"/>
            <a:ext cx="863798" cy="289520"/>
          </a:xfrm>
          <a:custGeom>
            <a:avLst/>
            <a:gdLst/>
            <a:ahLst/>
            <a:cxnLst/>
            <a:rect l="l" t="t" r="r" b="b"/>
            <a:pathLst>
              <a:path w="863798" h="289520">
                <a:moveTo>
                  <a:pt x="144760" y="0"/>
                </a:moveTo>
                <a:lnTo>
                  <a:pt x="719038" y="0"/>
                </a:lnTo>
                <a:arcTo hR="144760" wR="144760" stAng="16200000" swAng="5400000"/>
                <a:lnTo>
                  <a:pt x="863798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hafta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961809" y="3724275"/>
            <a:ext cx="3414216" cy="1647230"/>
          </a:xfrm>
          <a:prstGeom prst="roundRect">
            <a:avLst>
              <a:gd name="adj" fmla="val 9059"/>
            </a:avLst>
          </a:prstGeom>
          <a:solidFill>
            <a:srgbClr val="10162A"/>
          </a:solidFill>
          <a:ln w="6350">
            <a:solidFill>
              <a:srgbClr val="10162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68184" y="393065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32" name="Image 5" descr="Sta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69784" y="4032250"/>
            <a:ext cx="254000" cy="2540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52384" y="3930650"/>
            <a:ext cx="248978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Haftanın değerlendirmesi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752384" y="4535091"/>
            <a:ext cx="1058763" cy="289520"/>
          </a:xfrm>
          <a:custGeom>
            <a:avLst/>
            <a:gdLst/>
            <a:ahLst/>
            <a:cxnLst/>
            <a:rect l="l" t="t" r="r" b="b"/>
            <a:pathLst>
              <a:path w="1058763" h="289520">
                <a:moveTo>
                  <a:pt x="144760" y="0"/>
                </a:moveTo>
                <a:lnTo>
                  <a:pt x="914003" y="0"/>
                </a:lnTo>
                <a:arcTo hR="144760" wR="144760" stAng="16200000" swAng="5400000"/>
                <a:lnTo>
                  <a:pt x="1058763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FF8A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Cuma 17:00</a:t>
            </a:r>
            <a:endParaRPr lang="en-US" sz="1200" dirty="0"/>
          </a:p>
        </p:txBody>
      </p:sp>
      <p:pic>
        <p:nvPicPr>
          <p:cNvPr id="35" name="Image 6" descr="Lightbulb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2800" y="5633740"/>
            <a:ext cx="203200" cy="2032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92200" y="5628680"/>
            <a:ext cx="10595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Ücretsiz ChatGPT hesabında aynı anda üç aktif zamanlanmış görev kurulabilir.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55 / 62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101600" dist="0" dir="60000">
              <a:srgbClr val="4C8DFF">
                <a:alpha val="20000"/>
              </a:srgbClr>
            </a:outerShdw>
          </a:effectLst>
        </p:spPr>
      </p:sp>
      <p:pic>
        <p:nvPicPr>
          <p:cNvPr id="3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324346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6 · 2. BÖLÜM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64211" y="819150"/>
            <a:ext cx="2587030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· Zamanlanmış görev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Görevimiz kendiliğinden çalıştı mı?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GERİ DÖNÜYORUZ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Oturumun başında kurduğumuz görev, biz anlatırken zamanı gelince çalıştı.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359374"/>
            <a:ext cx="3380383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61654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BAKACAKLARIMIZ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931470"/>
            <a:ext cx="295201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nasıl geldi, görevler nerede listelenir, nasıl düzenlenir ve durdurulur?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BİR ADIM İLERİ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görevi her sabah tekrarlanan bir göreve dönüştürmek.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62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750" y="8128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spc="-400" kern="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3919"/>
            <a:ext cx="7521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09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05039"/>
            <a:ext cx="752157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 ve Gemini ile İş Senaryoları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5975" y="5266134"/>
            <a:ext cx="1909068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ile iş süreçleri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07593" y="5266134"/>
            <a:ext cx="214947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ile doküman ve veri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39618" y="5266134"/>
            <a:ext cx="167471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ile araştırma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5695355"/>
            <a:ext cx="1948755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görev, farklı araçlar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7280" y="5695355"/>
            <a:ext cx="1674813" cy="3466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2E3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 aracı seçmek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/ 62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09 · ÜÇ ARAÇ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araç, üç güçlü yan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3420467" cy="3926880"/>
          </a:xfrm>
          <a:prstGeom prst="roundRect">
            <a:avLst>
              <a:gd name="adj" fmla="val 4456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1915120"/>
            <a:ext cx="3420467" cy="3926880"/>
          </a:xfrm>
          <a:custGeom>
            <a:avLst/>
            <a:gdLst/>
            <a:ahLst/>
            <a:cxnLst/>
            <a:rect l="l" t="t" r="r" b="b"/>
            <a:pathLst>
              <a:path w="3420467" h="3926880">
                <a:moveTo>
                  <a:pt x="152400" y="0"/>
                </a:moveTo>
                <a:lnTo>
                  <a:pt x="3268067" y="0"/>
                </a:lnTo>
                <a:arcTo hR="152400" wR="152400" stAng="16200000" swAng="5400000"/>
                <a:lnTo>
                  <a:pt x="3420467" y="3774480"/>
                </a:lnTo>
                <a:arcTo hR="152400" wR="152400" stAng="0" swAng="5400000"/>
                <a:lnTo>
                  <a:pt x="152400" y="392688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  <a:moveTo>
                  <a:pt x="152400" y="50800"/>
                </a:moveTo>
                <a:arcTo hR="101600" wR="146050" stAng="16200000" swAng="-5400000"/>
                <a:lnTo>
                  <a:pt x="6350" y="3774480"/>
                </a:lnTo>
                <a:arcTo hR="146050" wR="146050" stAng="10800000" swAng="-5400000"/>
                <a:lnTo>
                  <a:pt x="3268067" y="3920530"/>
                </a:lnTo>
                <a:arcTo hR="146050" wR="146050" stAng="5400000" swAng="-5400000"/>
                <a:lnTo>
                  <a:pt x="3414117" y="152400"/>
                </a:lnTo>
                <a:arcTo hR="101600" wR="146050" stAng="0" swAng="-5400000"/>
                <a:close/>
              </a:path>
            </a:pathLst>
          </a:custGeom>
          <a:solidFill>
            <a:srgbClr val="E4DED1"/>
          </a:solidFill>
          <a:ln/>
        </p:spPr>
      </p:sp>
      <p:sp>
        <p:nvSpPr>
          <p:cNvPr id="7" name="Shape 5"/>
          <p:cNvSpPr/>
          <p:nvPr/>
        </p:nvSpPr>
        <p:spPr>
          <a:xfrm>
            <a:off x="1073150" y="221992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E3D6"/>
          </a:solidFill>
          <a:ln/>
        </p:spPr>
      </p:sp>
      <p:pic>
        <p:nvPicPr>
          <p:cNvPr id="8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4750" y="2321520"/>
            <a:ext cx="254000" cy="254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3150" y="2778720"/>
            <a:ext cx="298676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73150" y="3201591"/>
            <a:ext cx="29867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YÖNLÜ GÜNLÜK ASİSTAN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4458" y="3516511"/>
            <a:ext cx="292859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yazışma ve fikir üretme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Zamanlanmış görevler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GPT’lerle kişiselleştirme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85667" y="1915120"/>
            <a:ext cx="3420566" cy="3926880"/>
          </a:xfrm>
          <a:prstGeom prst="roundRect">
            <a:avLst>
              <a:gd name="adj" fmla="val 4455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5667" y="1915120"/>
            <a:ext cx="3420566" cy="3926880"/>
          </a:xfrm>
          <a:custGeom>
            <a:avLst/>
            <a:gdLst/>
            <a:ahLst/>
            <a:cxnLst/>
            <a:rect l="l" t="t" r="r" b="b"/>
            <a:pathLst>
              <a:path w="3420566" h="3926880">
                <a:moveTo>
                  <a:pt x="152400" y="0"/>
                </a:moveTo>
                <a:lnTo>
                  <a:pt x="3268166" y="0"/>
                </a:lnTo>
                <a:arcTo hR="152400" wR="152400" stAng="16200000" swAng="5400000"/>
                <a:lnTo>
                  <a:pt x="3420566" y="3774480"/>
                </a:lnTo>
                <a:arcTo hR="152400" wR="152400" stAng="0" swAng="5400000"/>
                <a:lnTo>
                  <a:pt x="152400" y="392688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  <a:moveTo>
                  <a:pt x="152400" y="50800"/>
                </a:moveTo>
                <a:arcTo hR="101600" wR="146050" stAng="16200000" swAng="-5400000"/>
                <a:lnTo>
                  <a:pt x="6350" y="3774480"/>
                </a:lnTo>
                <a:arcTo hR="146050" wR="146050" stAng="10800000" swAng="-5400000"/>
                <a:lnTo>
                  <a:pt x="3268166" y="3920530"/>
                </a:lnTo>
                <a:arcTo hR="146050" wR="146050" stAng="5400000" swAng="-5400000"/>
                <a:lnTo>
                  <a:pt x="3414216" y="152400"/>
                </a:lnTo>
                <a:arcTo hR="101600" wR="146050" stAng="0" swAng="-5400000"/>
                <a:close/>
              </a:path>
            </a:pathLst>
          </a:custGeom>
          <a:solidFill>
            <a:srgbClr val="10162A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6017" y="221992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F6A3D"/>
          </a:solidFill>
          <a:ln/>
        </p:spPr>
      </p:sp>
      <p:pic>
        <p:nvPicPr>
          <p:cNvPr id="15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47617" y="2321520"/>
            <a:ext cx="254000" cy="254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6017" y="2778720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646017" y="3201591"/>
            <a:ext cx="2986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DOKÜMAN VE VERİ ODAKLI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97325" y="3516511"/>
            <a:ext cx="2928696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Uzun doküman okuma ve yazma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Word ve sunum üretme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Projelerle ortak bilgi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958634" y="1915120"/>
            <a:ext cx="3420566" cy="3926880"/>
          </a:xfrm>
          <a:prstGeom prst="roundRect">
            <a:avLst>
              <a:gd name="adj" fmla="val 4455"/>
            </a:avLst>
          </a:prstGeom>
          <a:solidFill>
            <a:srgbClr val="FFFDF8"/>
          </a:solidFill>
          <a:ln/>
          <a:effectLst>
            <a:outerShdw sx="100000" sy="100000" kx="0" ky="0" algn="bl" rotWithShape="0" blurRad="203200" dist="76200" dir="5400000">
              <a:srgbClr val="10162A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58634" y="1915120"/>
            <a:ext cx="3420566" cy="3926880"/>
          </a:xfrm>
          <a:custGeom>
            <a:avLst/>
            <a:gdLst/>
            <a:ahLst/>
            <a:cxnLst/>
            <a:rect l="l" t="t" r="r" b="b"/>
            <a:pathLst>
              <a:path w="3420566" h="3926880">
                <a:moveTo>
                  <a:pt x="152400" y="0"/>
                </a:moveTo>
                <a:lnTo>
                  <a:pt x="3268166" y="0"/>
                </a:lnTo>
                <a:arcTo hR="152400" wR="152400" stAng="16200000" swAng="5400000"/>
                <a:lnTo>
                  <a:pt x="3420566" y="3774480"/>
                </a:lnTo>
                <a:arcTo hR="152400" wR="152400" stAng="0" swAng="5400000"/>
                <a:lnTo>
                  <a:pt x="152400" y="392688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  <a:moveTo>
                  <a:pt x="152400" y="50800"/>
                </a:moveTo>
                <a:arcTo hR="101600" wR="146050" stAng="16200000" swAng="-5400000"/>
                <a:lnTo>
                  <a:pt x="6350" y="3774480"/>
                </a:lnTo>
                <a:arcTo hR="146050" wR="146050" stAng="10800000" swAng="-5400000"/>
                <a:lnTo>
                  <a:pt x="3268166" y="3920530"/>
                </a:lnTo>
                <a:arcTo hR="146050" wR="146050" stAng="5400000" swAng="-5400000"/>
                <a:lnTo>
                  <a:pt x="3414216" y="152400"/>
                </a:lnTo>
                <a:arcTo hR="101600" wR="146050" stAng="0" swAng="-5400000"/>
                <a:close/>
              </a:path>
            </a:pathLst>
          </a:custGeom>
          <a:solidFill>
            <a:srgbClr val="E4DED1"/>
          </a:solidFill>
          <a:ln/>
        </p:spPr>
      </p:sp>
      <p:sp>
        <p:nvSpPr>
          <p:cNvPr id="21" name="Shape 17"/>
          <p:cNvSpPr/>
          <p:nvPr/>
        </p:nvSpPr>
        <p:spPr>
          <a:xfrm>
            <a:off x="8218984" y="2219920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E6EEFF"/>
          </a:solidFill>
          <a:ln/>
        </p:spPr>
      </p:sp>
      <p:pic>
        <p:nvPicPr>
          <p:cNvPr id="22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0584" y="2321520"/>
            <a:ext cx="254000" cy="2540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18984" y="2778720"/>
            <a:ext cx="298686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218984" y="3201591"/>
            <a:ext cx="29868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45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EKOSİSTEMİYLE UYUMLU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270292" y="3729831"/>
            <a:ext cx="292869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 ile araştırma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ve Drive ile çalışma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3C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Gem’lerle kişisel asistanlar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58 / 62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09 · DOĞRU ARACI SEÇMEK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iş için hangi araç?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889720"/>
            <a:ext cx="10566400" cy="3100388"/>
          </a:xfrm>
          <a:prstGeom prst="roundRect">
            <a:avLst>
              <a:gd name="adj" fmla="val 4096"/>
            </a:avLst>
          </a:prstGeom>
          <a:solidFill>
            <a:srgbClr val="FFF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89720"/>
            <a:ext cx="10566400" cy="3100388"/>
          </a:xfrm>
          <a:custGeom>
            <a:avLst/>
            <a:gdLst/>
            <a:ahLst/>
            <a:cxnLst/>
            <a:rect l="l" t="t" r="r" b="b"/>
            <a:pathLst>
              <a:path w="10566400" h="3100388">
                <a:moveTo>
                  <a:pt x="127000" y="3100388"/>
                </a:moveTo>
                <a:lnTo>
                  <a:pt x="127000" y="3100388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0439400" y="0"/>
                </a:lnTo>
                <a:arcTo hR="127000" wR="127000" stAng="16200000" swAng="5400000"/>
                <a:lnTo>
                  <a:pt x="10566400" y="127000"/>
                </a:lnTo>
                <a:arcTo hR="114300" wR="127000" stAng="0" swAng="-5400000"/>
                <a:lnTo>
                  <a:pt x="127000" y="12700"/>
                </a:lnTo>
                <a:arcTo hR="114300" wR="114300" stAng="16200000" swAng="-5400000"/>
                <a:lnTo>
                  <a:pt x="12700" y="2973388"/>
                </a:lnTo>
                <a:arcTo hR="127000" wR="1143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02420"/>
          <a:ext cx="10553700" cy="3087688"/>
        </p:xfrm>
        <a:graphic>
          <a:graphicData uri="http://schemas.openxmlformats.org/drawingml/2006/table">
            <a:tbl>
              <a:tblPr/>
              <a:tblGrid>
                <a:gridCol w="4854702"/>
                <a:gridCol w="2955036"/>
                <a:gridCol w="2743962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8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Bugünkü tercih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Gördüğümüz yer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A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Kısa metin ve e-posta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Üçü 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analizi ve dosya üretimi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2 ve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Kaynaklı pazar araştırması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Deep Research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 planı ve görev tablosu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Zamanlanmış hatırlatma ve takip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Kalıcı kişisel asistan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Gem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bilgi merkezi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Projeler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6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5233888"/>
            <a:ext cx="254000" cy="25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8400" y="5218708"/>
            <a:ext cx="105171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iyi araç, kurumunuzun izin verdiği ve düzenli kullandığınız araçtır.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59 / 62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14000" y="711200"/>
            <a:ext cx="965200" cy="965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01600" dist="0" dir="60000">
              <a:srgbClr val="FF6A3D">
                <a:alpha val="18000"/>
              </a:srgbClr>
            </a:outerShdw>
          </a:effectLst>
        </p:spPr>
      </p:sp>
      <p:pic>
        <p:nvPicPr>
          <p:cNvPr id="3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965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2170311" cy="3403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UYGULAMA 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91061" y="819150"/>
            <a:ext cx="2315865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8A5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· Claude · Gemini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457920"/>
            <a:ext cx="889508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görev, üç araç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3150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3150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hibrit çalışma politikasını anlatan uzun bir şirket içi duyuru metnimiz var.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4359374"/>
            <a:ext cx="3380383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4616549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YAPACAĞIZ?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4931470"/>
            <a:ext cx="295201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metni ve aynı talimatı ChatGPT, Claude ve Gemini’ye vereceğiz.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741" y="4359374"/>
            <a:ext cx="3380284" cy="1682651"/>
          </a:xfrm>
          <a:prstGeom prst="roundRect">
            <a:avLst>
              <a:gd name="adj" fmla="val 8868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2916" y="4616549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GÖRECEĞİZ?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52916" y="4931470"/>
            <a:ext cx="295191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çıktıyı yan yana: özetin netliği, eksik ya da fazla bilgi ve üslup farkı.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62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5588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KAPANIŞ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Yarın başlayabileceğiniz beş iş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2800" y="1915120"/>
            <a:ext cx="3556000" cy="3926880"/>
          </a:xfrm>
          <a:prstGeom prst="roundRect">
            <a:avLst>
              <a:gd name="adj" fmla="val 4286"/>
            </a:avLst>
          </a:prstGeom>
          <a:solidFill>
            <a:srgbClr val="10162A"/>
          </a:solidFill>
          <a:ln/>
          <a:effectLst>
            <a:outerShdw sx="100000" sy="100000" kx="0" ky="0" algn="bl" rotWithShape="0" blurRad="304800" dist="127000" dir="5400000">
              <a:srgbClr val="10162A">
                <a:alpha val="22000"/>
              </a:srgbClr>
            </a:outerShdw>
          </a:effectLst>
        </p:spPr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2844800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600" y="3403600"/>
            <a:ext cx="3034792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Küçük başlayın, </a:t>
            </a:r>
            <a:r>
              <a:rPr lang="en-US" sz="4000" b="1" spc="-1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gün</a:t>
            </a:r>
            <a:r>
              <a:rPr lang="en-US" sz="4000" b="1" spc="-1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kullanın.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673600" y="260856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32400" y="2669480"/>
            <a:ext cx="633120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e-postanızı </a:t>
            </a: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RGBFK formülüyle</a:t>
            </a: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yazdırın.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73600" y="314196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32400" y="3202880"/>
            <a:ext cx="633120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Excel dosyası yükleyip </a:t>
            </a: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“Üç önemli bulgu ne?”</a:t>
            </a: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diye sorun.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73600" y="367536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32400" y="3736280"/>
            <a:ext cx="633120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sık yaptığınız işi bir </a:t>
            </a: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Gem’e ya da projeye</a:t>
            </a: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dönüştürün.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73600" y="420876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32400" y="4269680"/>
            <a:ext cx="633120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Pazartesi sabahı için bir </a:t>
            </a: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zamanlanmış görev</a:t>
            </a: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kurun.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73600" y="474216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32400" y="4803080"/>
            <a:ext cx="633120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Aldığınız bir yanıtı </a:t>
            </a:r>
            <a:r>
              <a:rPr lang="en-US" sz="1600" b="1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kaynağından doğrulayın</a:t>
            </a:r>
            <a:r>
              <a:rPr lang="en-US" sz="1600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Lebib Yalkın Akademi · 61 / 62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74000" y="1066800"/>
            <a:ext cx="3302000" cy="3302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45500" y="1638300"/>
            <a:ext cx="2159000" cy="2159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017000" y="22098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  <a:effectLst>
            <a:outerShdw sx="100000" sy="100000" kx="0" ky="0" algn="bl" rotWithShape="0" blurRad="152400" dist="0" dir="60000">
              <a:srgbClr val="FF6A3D">
                <a:alpha val="18000"/>
              </a:srgbClr>
            </a:outerShdw>
          </a:effectLst>
        </p:spPr>
      </p:sp>
      <p:pic>
        <p:nvPicPr>
          <p:cNvPr id="5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96400" y="2489200"/>
            <a:ext cx="457200" cy="457200"/>
          </a:xfrm>
          <a:prstGeom prst="rect">
            <a:avLst/>
          </a:prstGeom>
        </p:spPr>
      </p:pic>
      <p:pic>
        <p:nvPicPr>
          <p:cNvPr id="6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06100" y="1562100"/>
            <a:ext cx="203200" cy="2032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12800" y="1939330"/>
            <a:ext cx="706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 VE CEVAP</a:t>
            </a:r>
            <a:endParaRPr lang="en-US" sz="1200" dirty="0"/>
          </a:p>
        </p:txBody>
      </p:sp>
      <p:sp>
        <p:nvSpPr>
          <p:cNvPr id="8" name="Text 2"/>
          <p:cNvSpPr/>
          <p:nvPr>
            <p:ph type="title"/>
          </p:nvPr>
        </p:nvSpPr>
        <p:spPr>
          <a:xfrm>
            <a:off x="812800" y="2381250"/>
            <a:ext cx="7063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i="0" spc="-2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r>
              <a:rPr lang="en-US" sz="7000" b="1" i="0" spc="-200" kern="0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0" dirty="0"/>
          </a:p>
        </p:txBody>
      </p:sp>
      <p:sp>
        <p:nvSpPr>
          <p:cNvPr id="9" name="Text 3"/>
          <p:cNvSpPr/>
          <p:nvPr/>
        </p:nvSpPr>
        <p:spPr>
          <a:xfrm>
            <a:off x="812800" y="3498850"/>
            <a:ext cx="70637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Sorularınızı alabilirim.</a:t>
            </a:r>
            <a:endParaRPr lang="en-US" sz="2800" dirty="0"/>
          </a:p>
        </p:txBody>
      </p:sp>
      <p:sp>
        <p:nvSpPr>
          <p:cNvPr id="10" name="Shape 4"/>
          <p:cNvSpPr/>
          <p:nvPr/>
        </p:nvSpPr>
        <p:spPr>
          <a:xfrm>
            <a:off x="812800" y="4154091"/>
            <a:ext cx="3686473" cy="764480"/>
          </a:xfrm>
          <a:prstGeom prst="roundRect">
            <a:avLst>
              <a:gd name="adj" fmla="val 16613"/>
            </a:avLst>
          </a:prstGeom>
          <a:solidFill>
            <a:srgbClr val="F5F2EA"/>
          </a:solidFill>
          <a:ln/>
        </p:spPr>
      </p:sp>
      <p:sp>
        <p:nvSpPr>
          <p:cNvPr id="11" name="Text 5"/>
          <p:cNvSpPr/>
          <p:nvPr/>
        </p:nvSpPr>
        <p:spPr>
          <a:xfrm>
            <a:off x="1016000" y="4363641"/>
            <a:ext cx="406400" cy="345380"/>
          </a:xfrm>
          <a:custGeom>
            <a:avLst/>
            <a:gdLst/>
            <a:ahLst/>
            <a:cxnLst/>
            <a:rect l="l" t="t" r="r" b="b"/>
            <a:pathLst>
              <a:path w="406400" h="345380">
                <a:moveTo>
                  <a:pt x="63500" y="0"/>
                </a:moveTo>
                <a:lnTo>
                  <a:pt x="342900" y="0"/>
                </a:lnTo>
                <a:arcTo hR="63500" wR="63500" stAng="16200000" swAng="5400000"/>
                <a:lnTo>
                  <a:pt x="406400" y="281880"/>
                </a:lnTo>
                <a:arcTo hR="63500" wR="63500" stAng="0" swAng="5400000"/>
                <a:lnTo>
                  <a:pt x="63500" y="34538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close/>
              </a:path>
            </a:pathLst>
          </a:custGeom>
          <a:solidFill>
            <a:srgbClr val="2457C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574800" y="4281091"/>
            <a:ext cx="28029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Ertürk Erdağı · LinkedIn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574800" y="4507111"/>
            <a:ext cx="292447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u="sng" dirty="0">
                <a:solidFill>
                  <a:srgbClr val="1016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linkedin.com/in/erturkerdagi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ile İş Süreçlerinin Dönüştürülmesi · Seviye 2 · Lebib Yalkın Akademi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804400" y="623828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/ 62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pay Zeka ile İş Süreçlerinin Dönüştürülmesi – Seviye 2">
  <a:themeElements>
    <a:clrScheme name="Yapay Zeka ile İş Süreçlerinin Dönüştürülmesi – Seviye 2">
      <a:dk1>
        <a:srgbClr val="10162A"/>
      </a:dk1>
      <a:lt1>
        <a:srgbClr val="F5F2EA"/>
      </a:lt1>
      <a:dk2>
        <a:srgbClr val="494D5A"/>
      </a:dk2>
      <a:lt2>
        <a:srgbClr val="DEDCD7"/>
      </a:lt2>
      <a:accent1>
        <a:srgbClr val="FF6A3D"/>
      </a:accent1>
      <a:accent2>
        <a:srgbClr val="C2410C"/>
      </a:accent2>
      <a:accent3>
        <a:srgbClr val="FF8A5C"/>
      </a:accent3>
      <a:accent4>
        <a:srgbClr val="9A3412"/>
      </a:accent4>
      <a:accent5>
        <a:srgbClr val="2457C5"/>
      </a:accent5>
      <a:accent6>
        <a:srgbClr val="4C8DFF"/>
      </a:accent6>
      <a:hlink>
        <a:srgbClr val="0563C1"/>
      </a:hlink>
      <a:folHlink>
        <a:srgbClr val="954F72"/>
      </a:folHlink>
    </a:clrScheme>
    <a:fontScheme name="Yapay Zeka ile İş Süreçlerinin Dönüştürülmesi – Seviye 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ile İş Süreçlerinin Dönüştürülmesi – Seviye 2</dc:title>
  <dc:subject/>
  <dc:creator/>
  <cp:lastModifiedBy/>
  <cp:revision>1</cp:revision>
  <dcterms:created xsi:type="dcterms:W3CDTF">2026-10-26T21:00:08Z</dcterms:created>
  <dcterms:modified xsi:type="dcterms:W3CDTF">2026-10-26T21:00:08Z</dcterms:modified>
</cp:coreProperties>
</file>